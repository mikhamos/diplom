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21"/>
  </p:notesMasterIdLst>
  <p:handoutMasterIdLst>
    <p:handoutMasterId r:id="rId22"/>
  </p:handoutMasterIdLst>
  <p:sldIdLst>
    <p:sldId id="256" r:id="rId4"/>
    <p:sldId id="263" r:id="rId5"/>
    <p:sldId id="264" r:id="rId6"/>
    <p:sldId id="258" r:id="rId7"/>
    <p:sldId id="259" r:id="rId8"/>
    <p:sldId id="267" r:id="rId9"/>
    <p:sldId id="271" r:id="rId10"/>
    <p:sldId id="269" r:id="rId11"/>
    <p:sldId id="272" r:id="rId12"/>
    <p:sldId id="270" r:id="rId13"/>
    <p:sldId id="268" r:id="rId14"/>
    <p:sldId id="273" r:id="rId15"/>
    <p:sldId id="274" r:id="rId16"/>
    <p:sldId id="260" r:id="rId17"/>
    <p:sldId id="261" r:id="rId18"/>
    <p:sldId id="262" r:id="rId19"/>
    <p:sldId id="266" r:id="rId20"/>
  </p:sldIdLst>
  <p:sldSz cx="12192000" cy="6858000"/>
  <p:notesSz cx="6858000" cy="9144000"/>
  <p:embeddedFontLst>
    <p:embeddedFont>
      <p:font typeface="Roboto" charset="0"/>
      <p:regular r:id="rId23"/>
      <p:bold r:id="rId24"/>
      <p:italic r:id="rId25"/>
      <p:boldItalic r:id="rId26"/>
    </p:embeddedFont>
    <p:embeddedFont>
      <p:font typeface="Roboto Medium" charset="0"/>
      <p:regular r:id="rId27"/>
      <p:bold r:id="rId28"/>
      <p:italic r:id="rId29"/>
      <p:boldItalic r:id="rId30"/>
    </p:embeddedFont>
    <p:embeddedFont>
      <p:font typeface="Calibri" pitchFamily="34" charset="0"/>
      <p:regular r:id="rId31"/>
      <p:bold r:id="rId32"/>
      <p:italic r:id="rId33"/>
      <p:boldItalic r:id="rId3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=""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=""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=""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=""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=""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FFFFFF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5397" autoAdjust="0"/>
  </p:normalViewPr>
  <p:slideViewPr>
    <p:cSldViewPr snapToGrid="0" snapToObjects="1">
      <p:cViewPr>
        <p:scale>
          <a:sx n="100" d="100"/>
          <a:sy n="100" d="100"/>
        </p:scale>
        <p:origin x="-990" y="-3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7248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9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13.05.2026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565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903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=""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=""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=""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=""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=""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CD430D9-B302-4813-9B73-1D84671506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832342"/>
            <a:ext cx="6330950" cy="1508750"/>
          </a:xfrm>
        </p:spPr>
        <p:txBody>
          <a:bodyPr>
            <a:normAutofit/>
          </a:bodyPr>
          <a:lstStyle/>
          <a:p>
            <a:r>
              <a:rPr lang="ru-RU" dirty="0"/>
              <a:t>Выполнил: студент гр</a:t>
            </a:r>
            <a:r>
              <a:rPr lang="ru-RU" dirty="0" smtClean="0"/>
              <a:t>. 3221 </a:t>
            </a:r>
            <a:r>
              <a:rPr lang="ru-RU" dirty="0"/>
              <a:t>М.А. </a:t>
            </a:r>
            <a:r>
              <a:rPr lang="ru-RU" dirty="0" err="1"/>
              <a:t>Москальцов</a:t>
            </a:r>
            <a:endParaRPr lang="ru-RU" dirty="0"/>
          </a:p>
          <a:p>
            <a:endParaRPr lang="ru-RU" dirty="0"/>
          </a:p>
          <a:p>
            <a:r>
              <a:rPr lang="ru-RU" dirty="0"/>
              <a:t>Научный руководитель: </a:t>
            </a:r>
            <a:r>
              <a:rPr lang="ru-RU" dirty="0" smtClean="0"/>
              <a:t>доцент ,к.т.н., доцент М.В</a:t>
            </a:r>
            <a:r>
              <a:rPr lang="ru-RU" dirty="0"/>
              <a:t>. </a:t>
            </a:r>
            <a:r>
              <a:rPr lang="ru-RU" dirty="0" err="1"/>
              <a:t>Сержантова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DA952CE4-9F72-490B-B65A-BEF5B1A55F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53615" y="6095280"/>
            <a:ext cx="3488540" cy="622900"/>
          </a:xfrm>
        </p:spPr>
        <p:txBody>
          <a:bodyPr>
            <a:noAutofit/>
          </a:bodyPr>
          <a:lstStyle/>
          <a:p>
            <a:pPr algn="ctr"/>
            <a:r>
              <a:rPr lang="ru-RU" sz="1400" dirty="0"/>
              <a:t>Санкт-Петербург</a:t>
            </a:r>
          </a:p>
          <a:p>
            <a:pPr algn="ctr"/>
            <a:r>
              <a:rPr lang="ru-RU" sz="1400" dirty="0"/>
              <a:t>2026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D26FC512-4880-4D1A-AB61-8AC6C585F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3813" y="310342"/>
            <a:ext cx="3048000" cy="109537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466195" y="1726355"/>
            <a:ext cx="892454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059A9"/>
                </a:solidFill>
                <a:latin typeface="Roboto Medium"/>
                <a:ea typeface="Roboto" panose="02000000000000000000" pitchFamily="2" charset="0"/>
                <a:cs typeface="Times New Roman" panose="02020603050405020304" pitchFamily="18" charset="0"/>
              </a:rPr>
              <a:t>Выпускная квалификационная работа бакалавра </a:t>
            </a:r>
            <a:r>
              <a:rPr lang="ru-RU" b="1" dirty="0">
                <a:solidFill>
                  <a:srgbClr val="0059A9"/>
                </a:solidFill>
                <a:latin typeface="Roboto Medium"/>
                <a:ea typeface="Roboto" panose="02000000000000000000" pitchFamily="2" charset="0"/>
                <a:cs typeface="Times New Roman" panose="02020603050405020304" pitchFamily="18" charset="0"/>
              </a:rPr>
              <a:t/>
            </a:r>
            <a:br>
              <a:rPr lang="ru-RU" b="1" dirty="0">
                <a:solidFill>
                  <a:srgbClr val="0059A9"/>
                </a:solidFill>
                <a:latin typeface="Roboto Medium"/>
                <a:ea typeface="Roboto" panose="02000000000000000000" pitchFamily="2" charset="0"/>
                <a:cs typeface="Times New Roman" panose="02020603050405020304" pitchFamily="18" charset="0"/>
              </a:rPr>
            </a:br>
            <a:r>
              <a:rPr lang="ru-RU" b="1" dirty="0">
                <a:solidFill>
                  <a:srgbClr val="0059A9"/>
                </a:solidFill>
                <a:latin typeface="Roboto Medium"/>
                <a:ea typeface="Roboto" panose="02000000000000000000" pitchFamily="2" charset="0"/>
                <a:cs typeface="Times New Roman" panose="02020603050405020304" pitchFamily="18" charset="0"/>
              </a:rPr>
              <a:t>на тему</a:t>
            </a:r>
            <a:r>
              <a:rPr lang="ru-RU" b="1" dirty="0" smtClean="0">
                <a:solidFill>
                  <a:srgbClr val="0059A9"/>
                </a:solidFill>
                <a:latin typeface="Roboto Medium"/>
                <a:ea typeface="Roboto" panose="02000000000000000000" pitchFamily="2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b="1" dirty="0" smtClean="0">
                <a:solidFill>
                  <a:srgbClr val="0059A9"/>
                </a:solidFill>
                <a:latin typeface="Roboto Medium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ru-RU" dirty="0" smtClean="0"/>
              <a:t>Разработка </a:t>
            </a:r>
            <a:r>
              <a:rPr lang="ru-RU" dirty="0"/>
              <a:t>интеллектуальной системы управления </a:t>
            </a:r>
            <a:r>
              <a:rPr lang="ru-RU" dirty="0" smtClean="0"/>
              <a:t>робототехническим</a:t>
            </a:r>
          </a:p>
          <a:p>
            <a:r>
              <a:rPr lang="ru-RU" dirty="0"/>
              <a:t>комплексом</a:t>
            </a:r>
          </a:p>
        </p:txBody>
      </p:sp>
    </p:spTree>
    <p:extLst>
      <p:ext uri="{BB962C8B-B14F-4D97-AF65-F5344CB8AC3E}">
        <p14:creationId xmlns:p14="http://schemas.microsoft.com/office/powerpoint/2010/main" val="247158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1D75BD7-0C0A-482A-827B-E660C60C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ВКР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D8EA6A87-0B4E-4B8D-BC83-670F647F78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0929937" cy="12022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b="1" dirty="0" smtClean="0">
                <a:solidFill>
                  <a:srgbClr val="005AAA"/>
                </a:solidFill>
              </a:rPr>
              <a:t>Цель</a:t>
            </a:r>
            <a:r>
              <a:rPr lang="ru-RU" b="1" dirty="0" smtClean="0"/>
              <a:t>: </a:t>
            </a:r>
            <a:r>
              <a:rPr lang="ru-RU" sz="1800" dirty="0" smtClean="0">
                <a:solidFill>
                  <a:schemeClr val="tx1"/>
                </a:solidFill>
              </a:rPr>
              <a:t>Разработать программное решение, которое обеспечит адаптацию совместной работы человека-оператора и кобота.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3440EFE4-AFC5-4B1F-A59A-F6950AF3E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2678782"/>
            <a:ext cx="11090274" cy="367745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5AAA"/>
                </a:solidFill>
              </a:rPr>
              <a:t>Задачи</a:t>
            </a:r>
            <a:r>
              <a:rPr lang="ru-RU" b="1" dirty="0" smtClean="0"/>
              <a:t>: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ru-RU" sz="1800" dirty="0" smtClean="0">
                <a:solidFill>
                  <a:schemeClr val="tx1"/>
                </a:solidFill>
              </a:rPr>
              <a:t>Провести анализ </a:t>
            </a:r>
            <a:r>
              <a:rPr lang="ru-RU" sz="1800" dirty="0">
                <a:solidFill>
                  <a:schemeClr val="tx1"/>
                </a:solidFill>
              </a:rPr>
              <a:t>патентных </a:t>
            </a:r>
            <a:r>
              <a:rPr lang="ru-RU" sz="1800" dirty="0" smtClean="0">
                <a:solidFill>
                  <a:schemeClr val="tx1"/>
                </a:solidFill>
              </a:rPr>
              <a:t>решений</a:t>
            </a:r>
            <a:r>
              <a:rPr lang="en-GB" sz="1800" dirty="0" smtClean="0">
                <a:solidFill>
                  <a:schemeClr val="tx1"/>
                </a:solidFill>
              </a:rPr>
              <a:t>;</a:t>
            </a:r>
            <a:endParaRPr lang="ru-RU" sz="1800" dirty="0">
              <a:solidFill>
                <a:schemeClr val="tx1"/>
              </a:solidFill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ru-RU" sz="1800" dirty="0" smtClean="0">
                <a:solidFill>
                  <a:schemeClr val="tx1"/>
                </a:solidFill>
              </a:rPr>
              <a:t>Сформировать математическую модель психофизиологического состояния </a:t>
            </a:r>
            <a:r>
              <a:rPr lang="ru-RU" sz="1800" dirty="0">
                <a:solidFill>
                  <a:schemeClr val="tx1"/>
                </a:solidFill>
              </a:rPr>
              <a:t>оператора в </a:t>
            </a:r>
            <a:r>
              <a:rPr lang="ru-RU" sz="1800" dirty="0" smtClean="0">
                <a:solidFill>
                  <a:schemeClr val="tx1"/>
                </a:solidFill>
              </a:rPr>
              <a:t>адаптационной системе «ЧО-РТК» в течение рабочей </a:t>
            </a:r>
            <a:r>
              <a:rPr lang="ru-RU" sz="1800" dirty="0">
                <a:solidFill>
                  <a:schemeClr val="tx1"/>
                </a:solidFill>
              </a:rPr>
              <a:t>смены;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ru-RU" sz="1800" dirty="0" smtClean="0">
                <a:solidFill>
                  <a:schemeClr val="tx1"/>
                </a:solidFill>
              </a:rPr>
              <a:t>Разработать предиктивный алгоритм на основе машинного обучения, адаптирующий </a:t>
            </a:r>
            <a:r>
              <a:rPr lang="ru-RU" sz="1800" dirty="0">
                <a:solidFill>
                  <a:schemeClr val="tx1"/>
                </a:solidFill>
              </a:rPr>
              <a:t>режим </a:t>
            </a:r>
            <a:r>
              <a:rPr lang="ru-RU" sz="1800" dirty="0" smtClean="0">
                <a:solidFill>
                  <a:schemeClr val="tx1"/>
                </a:solidFill>
              </a:rPr>
              <a:t>взаимодействия «ЧО-РТК» на основе данных о когнитивных </a:t>
            </a:r>
            <a:r>
              <a:rPr lang="ru-RU" sz="1800" dirty="0">
                <a:solidFill>
                  <a:schemeClr val="tx1"/>
                </a:solidFill>
              </a:rPr>
              <a:t>и </a:t>
            </a:r>
            <a:r>
              <a:rPr lang="ru-RU" sz="1800" dirty="0" smtClean="0">
                <a:solidFill>
                  <a:schemeClr val="tx1"/>
                </a:solidFill>
              </a:rPr>
              <a:t>сенсомоторных </a:t>
            </a:r>
            <a:r>
              <a:rPr lang="ru-RU" sz="1800" dirty="0" err="1" smtClean="0">
                <a:solidFill>
                  <a:schemeClr val="tx1"/>
                </a:solidFill>
              </a:rPr>
              <a:t>состояних</a:t>
            </a:r>
            <a:r>
              <a:rPr lang="ru-RU" sz="1800" dirty="0" smtClean="0">
                <a:solidFill>
                  <a:schemeClr val="tx1"/>
                </a:solidFill>
              </a:rPr>
              <a:t> человека</a:t>
            </a:r>
            <a:r>
              <a:rPr lang="en-GB" sz="1800" dirty="0" smtClean="0">
                <a:solidFill>
                  <a:schemeClr val="tx1"/>
                </a:solidFill>
              </a:rPr>
              <a:t>;</a:t>
            </a:r>
            <a:endParaRPr lang="ru-RU" sz="1800" dirty="0">
              <a:solidFill>
                <a:schemeClr val="tx1"/>
              </a:solidFill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ru-RU" sz="1800" dirty="0" smtClean="0">
                <a:solidFill>
                  <a:schemeClr val="tx1"/>
                </a:solidFill>
              </a:rPr>
              <a:t>Разработать интеллектуального </a:t>
            </a:r>
            <a:r>
              <a:rPr lang="ru-RU" sz="1800" dirty="0">
                <a:solidFill>
                  <a:schemeClr val="tx1"/>
                </a:solidFill>
              </a:rPr>
              <a:t>систему управления </a:t>
            </a:r>
            <a:r>
              <a:rPr lang="ru-RU" sz="1800" dirty="0" smtClean="0">
                <a:solidFill>
                  <a:schemeClr val="tx1"/>
                </a:solidFill>
              </a:rPr>
              <a:t>«</a:t>
            </a:r>
            <a:r>
              <a:rPr lang="ru-RU" sz="1800" dirty="0">
                <a:solidFill>
                  <a:schemeClr val="tx1"/>
                </a:solidFill>
              </a:rPr>
              <a:t>ЧО-РТК</a:t>
            </a:r>
            <a:r>
              <a:rPr lang="ru-RU" sz="1800" dirty="0" smtClean="0">
                <a:solidFill>
                  <a:schemeClr val="tx1"/>
                </a:solidFill>
              </a:rPr>
              <a:t>»</a:t>
            </a:r>
            <a:r>
              <a:rPr lang="en-GB" sz="1800" dirty="0" smtClean="0">
                <a:solidFill>
                  <a:schemeClr val="tx1"/>
                </a:solidFill>
              </a:rPr>
              <a:t>.</a:t>
            </a:r>
            <a:endParaRPr lang="ru-RU" sz="1800" dirty="0">
              <a:solidFill>
                <a:schemeClr val="tx1"/>
              </a:solidFill>
            </a:endParaRP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47320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1D75BD7-0C0A-482A-827B-E660C60C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>
          <a:xfrm>
            <a:off x="550863" y="4713290"/>
            <a:ext cx="11243938" cy="1271131"/>
          </a:xfrm>
        </p:spPr>
        <p:txBody>
          <a:bodyPr>
            <a:normAutofit/>
          </a:bodyPr>
          <a:lstStyle/>
          <a:p>
            <a:pPr algn="just"/>
            <a:r>
              <a:rPr lang="ru-RU" sz="1600" dirty="0" smtClean="0">
                <a:solidFill>
                  <a:schemeClr val="tx1"/>
                </a:solidFill>
              </a:rPr>
              <a:t>Эволюция </a:t>
            </a:r>
            <a:r>
              <a:rPr lang="ru-RU" sz="1600" dirty="0">
                <a:solidFill>
                  <a:schemeClr val="tx1"/>
                </a:solidFill>
              </a:rPr>
              <a:t>от «Оператора 4.0»  к «устойчивому Оператору 5.0» нацелена на создание доверительных отношений и симбиоза человека и автоматизации, где за роботом остается выполнение всех  монотонных, повторяющихся задач, а человек сохраняет незаменимые функции творческого контроля, принятия решений в нештатных ситуациях и когнитивной </a:t>
            </a:r>
            <a:r>
              <a:rPr lang="ru-RU" sz="1600" dirty="0" smtClean="0">
                <a:solidFill>
                  <a:schemeClr val="tx1"/>
                </a:solidFill>
              </a:rPr>
              <a:t>гибкости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  <a:endParaRPr lang="ru-RU" sz="1600" dirty="0" smtClean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79411" y="1484310"/>
            <a:ext cx="450779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Ключевым аспектом Индустрии 5.0. является качественно новый этап промышленного развития, в центре которого будет находиться человек, а главным принципом выступать синергия людей и интеллектуальных систем, как например коботы, действующие как партнеры, а не заменяющие трудовые ресурсы.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655" y="1484310"/>
            <a:ext cx="6736145" cy="294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927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2" cstate="print"/>
          <a:srcRect l="1930" b="20124"/>
          <a:stretch/>
        </p:blipFill>
        <p:spPr bwMode="auto">
          <a:xfrm>
            <a:off x="6320319" y="1246103"/>
            <a:ext cx="5228505" cy="4855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A1423E6-6AC6-4395-A470-428B77AA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91606"/>
            <a:ext cx="9608330" cy="332399"/>
          </a:xfrm>
        </p:spPr>
        <p:txBody>
          <a:bodyPr/>
          <a:lstStyle/>
          <a:p>
            <a:pPr marL="54610">
              <a:spcBef>
                <a:spcPts val="100"/>
              </a:spcBef>
            </a:pPr>
            <a:r>
              <a:rPr lang="ru-RU" dirty="0"/>
              <a:t>С</a:t>
            </a:r>
            <a:r>
              <a:rPr lang="ru-RU" dirty="0" smtClean="0"/>
              <a:t>борочно-комплектующий </a:t>
            </a:r>
            <a:r>
              <a:rPr lang="ru-RU" dirty="0"/>
              <a:t>модуль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7" name="Текст 4"/>
          <p:cNvSpPr>
            <a:spLocks noGrp="1"/>
          </p:cNvSpPr>
          <p:nvPr>
            <p:ph type="body" sz="quarter" idx="12"/>
          </p:nvPr>
        </p:nvSpPr>
        <p:spPr>
          <a:xfrm>
            <a:off x="550862" y="1038226"/>
            <a:ext cx="5945187" cy="5743574"/>
          </a:xfrm>
        </p:spPr>
        <p:txBody>
          <a:bodyPr>
            <a:noAutofit/>
          </a:bodyPr>
          <a:lstStyle/>
          <a:p>
            <a:pPr algn="just">
              <a:spcAft>
                <a:spcPts val="600"/>
              </a:spcAft>
            </a:pPr>
            <a:r>
              <a:rPr lang="ru-RU" sz="1600" dirty="0" smtClean="0">
                <a:solidFill>
                  <a:schemeClr val="tx1"/>
                </a:solidFill>
              </a:rPr>
              <a:t>Во взаимодействии задействованы три </a:t>
            </a:r>
            <a:r>
              <a:rPr lang="ru-RU" sz="1600" dirty="0">
                <a:solidFill>
                  <a:schemeClr val="tx1"/>
                </a:solidFill>
              </a:rPr>
              <a:t>кобота </a:t>
            </a:r>
            <a:r>
              <a:rPr lang="en-GB" sz="1600" dirty="0">
                <a:solidFill>
                  <a:schemeClr val="tx1"/>
                </a:solidFill>
              </a:rPr>
              <a:t>KUKA LBR </a:t>
            </a:r>
            <a:r>
              <a:rPr lang="en-GB" sz="1600" dirty="0" err="1">
                <a:solidFill>
                  <a:schemeClr val="tx1"/>
                </a:solidFill>
              </a:rPr>
              <a:t>iiwa</a:t>
            </a:r>
            <a:r>
              <a:rPr lang="ru-RU" sz="1600" dirty="0">
                <a:solidFill>
                  <a:schemeClr val="tx1"/>
                </a:solidFill>
              </a:rPr>
              <a:t> 14 </a:t>
            </a:r>
            <a:r>
              <a:rPr lang="en-GB" sz="1600" dirty="0">
                <a:solidFill>
                  <a:schemeClr val="tx1"/>
                </a:solidFill>
              </a:rPr>
              <a:t>R</a:t>
            </a:r>
            <a:r>
              <a:rPr lang="ru-RU" sz="1600" dirty="0">
                <a:solidFill>
                  <a:schemeClr val="tx1"/>
                </a:solidFill>
              </a:rPr>
              <a:t>820 и один оператор</a:t>
            </a:r>
            <a:r>
              <a:rPr lang="ru-RU" sz="16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spcAft>
                <a:spcPts val="600"/>
              </a:spcAft>
            </a:pPr>
            <a:r>
              <a:rPr lang="ru-RU" sz="1600" dirty="0" smtClean="0">
                <a:solidFill>
                  <a:schemeClr val="tx1"/>
                </a:solidFill>
              </a:rPr>
              <a:t>Состав</a:t>
            </a:r>
            <a:r>
              <a:rPr lang="en-GB" sz="1600" dirty="0" smtClean="0">
                <a:solidFill>
                  <a:schemeClr val="tx1"/>
                </a:solidFill>
              </a:rPr>
              <a:t>:</a:t>
            </a:r>
            <a:endParaRPr lang="ru-RU" sz="1600" dirty="0" smtClean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</a:rPr>
              <a:t>1 – </a:t>
            </a:r>
            <a:r>
              <a:rPr lang="ru-RU" sz="1600" dirty="0">
                <a:solidFill>
                  <a:schemeClr val="tx1"/>
                </a:solidFill>
              </a:rPr>
              <a:t>Р</a:t>
            </a:r>
            <a:r>
              <a:rPr lang="ru-RU" sz="1600" dirty="0" smtClean="0">
                <a:solidFill>
                  <a:schemeClr val="tx1"/>
                </a:solidFill>
              </a:rPr>
              <a:t>обот-манипулятор </a:t>
            </a:r>
          </a:p>
          <a:p>
            <a:pPr algn="just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</a:rPr>
              <a:t>2 – Операционный стол</a:t>
            </a:r>
          </a:p>
          <a:p>
            <a:pPr algn="just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</a:rPr>
              <a:t>3 – Человек-специалист</a:t>
            </a:r>
          </a:p>
          <a:p>
            <a:pPr algn="just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</a:rPr>
              <a:t>4 – Рабочее место оператора</a:t>
            </a:r>
          </a:p>
          <a:p>
            <a:pPr algn="just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</a:rPr>
              <a:t>5 – Контейнер с заготовками</a:t>
            </a:r>
          </a:p>
          <a:p>
            <a:pPr algn="just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</a:rPr>
              <a:t>6 – Круговая система транспортировки</a:t>
            </a:r>
            <a:endParaRPr lang="ru-RU" sz="1600" dirty="0" smtClean="0"/>
          </a:p>
          <a:p>
            <a:pPr algn="just">
              <a:spcAft>
                <a:spcPts val="600"/>
              </a:spcAft>
            </a:pPr>
            <a:r>
              <a:rPr lang="ru-RU" sz="1600" dirty="0">
                <a:solidFill>
                  <a:schemeClr val="tx1"/>
                </a:solidFill>
              </a:rPr>
              <a:t>Технологический процесс узла представляет собой последовательные этапы </a:t>
            </a:r>
            <a:r>
              <a:rPr lang="ru-RU" sz="1600" dirty="0" smtClean="0">
                <a:solidFill>
                  <a:schemeClr val="tx1"/>
                </a:solidFill>
              </a:rPr>
              <a:t>сборки.</a:t>
            </a:r>
            <a:endParaRPr lang="ru-RU" sz="160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ru-RU" sz="1600" dirty="0">
                <a:solidFill>
                  <a:schemeClr val="tx1"/>
                </a:solidFill>
              </a:rPr>
              <a:t>На каждом рабочем месте выполняется частичная обработка или сборка узлов, после чего заготовка передается дальше по циклу</a:t>
            </a:r>
            <a:r>
              <a:rPr lang="ru-RU" sz="1600" dirty="0" smtClean="0">
                <a:solidFill>
                  <a:schemeClr val="tx1"/>
                </a:solidFill>
              </a:rPr>
              <a:t>.</a:t>
            </a:r>
            <a:endParaRPr lang="ru-RU" sz="160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ru-RU" sz="1600" dirty="0">
                <a:solidFill>
                  <a:schemeClr val="tx1"/>
                </a:solidFill>
              </a:rPr>
              <a:t>Роботы-манипуляторы настроены под разные </a:t>
            </a:r>
            <a:r>
              <a:rPr lang="ru-RU" sz="1600" dirty="0" smtClean="0">
                <a:solidFill>
                  <a:schemeClr val="tx1"/>
                </a:solidFill>
              </a:rPr>
              <a:t>задачи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</a:p>
          <a:p>
            <a:pPr algn="just">
              <a:spcAft>
                <a:spcPts val="600"/>
              </a:spcAft>
            </a:pPr>
            <a:r>
              <a:rPr lang="ru-RU" sz="1600" dirty="0">
                <a:solidFill>
                  <a:schemeClr val="tx1"/>
                </a:solidFill>
              </a:rPr>
              <a:t>Т</a:t>
            </a:r>
            <a:r>
              <a:rPr lang="ru-RU" sz="1600" dirty="0" smtClean="0">
                <a:solidFill>
                  <a:schemeClr val="tx1"/>
                </a:solidFill>
              </a:rPr>
              <a:t>ранспортные </a:t>
            </a:r>
            <a:r>
              <a:rPr lang="ru-RU" sz="1600" dirty="0">
                <a:solidFill>
                  <a:schemeClr val="tx1"/>
                </a:solidFill>
              </a:rPr>
              <a:t>механизмы обеспечивают перемещение изделий от одного рабочего места к </a:t>
            </a:r>
            <a:r>
              <a:rPr lang="ru-RU" sz="1600" dirty="0" smtClean="0">
                <a:solidFill>
                  <a:schemeClr val="tx1"/>
                </a:solidFill>
              </a:rPr>
              <a:t>другому.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5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7200259" y="6209853"/>
            <a:ext cx="3648233" cy="343670"/>
          </a:xfrm>
          <a:prstGeom prst="rect">
            <a:avLst/>
          </a:prstGeom>
        </p:spPr>
        <p:txBody>
          <a:bodyPr vert="horz" lIns="0" tIns="0" rIns="0" bIns="0" numCol="1" spcCol="72000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Рисунок – </a:t>
            </a:r>
            <a:r>
              <a:rPr lang="ru-RU" sz="1400" b="1" dirty="0" smtClean="0"/>
              <a:t>Сборочно-комплектующий </a:t>
            </a:r>
            <a:r>
              <a:rPr lang="ru-RU" sz="1400" b="1" dirty="0"/>
              <a:t>модуль</a:t>
            </a:r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 </a:t>
            </a:r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6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cs typeface="Times New Roman" panose="02020603050405020304" pitchFamily="18" charset="0"/>
              </a:rPr>
              <a:t>Анализ патентных решений</a:t>
            </a:r>
            <a:endParaRPr lang="ru-RU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/>
          </p:nvPr>
        </p:nvSpPr>
        <p:spPr>
          <a:xfrm>
            <a:off x="443985" y="1339119"/>
            <a:ext cx="5545137" cy="504484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1800" b="1" dirty="0" smtClean="0"/>
              <a:t> </a:t>
            </a:r>
            <a:r>
              <a:rPr lang="ru-RU" sz="1800" b="1" dirty="0" smtClean="0">
                <a:solidFill>
                  <a:srgbClr val="005AAA"/>
                </a:solidFill>
              </a:rPr>
              <a:t>Адаптивные интерфейсы с учетом психоэмоционального и контекстного состояния</a:t>
            </a:r>
          </a:p>
          <a:p>
            <a:pPr marL="342900" indent="-34290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1600" b="1" dirty="0" smtClean="0">
                <a:solidFill>
                  <a:schemeClr val="tx1"/>
                </a:solidFill>
              </a:rPr>
              <a:t>US20030174122 A1: </a:t>
            </a:r>
            <a:r>
              <a:rPr lang="ru-RU" sz="1600" dirty="0" smtClean="0">
                <a:solidFill>
                  <a:schemeClr val="tx1"/>
                </a:solidFill>
              </a:rPr>
              <a:t>«Адаптация </a:t>
            </a:r>
            <a:r>
              <a:rPr lang="ru-RU" sz="1600" dirty="0">
                <a:solidFill>
                  <a:schemeClr val="tx1"/>
                </a:solidFill>
              </a:rPr>
              <a:t>человеко-машинного интерфейса в зависимости от психологического профиля и текущего состояния </a:t>
            </a:r>
            <a:r>
              <a:rPr lang="ru-RU" sz="1600" dirty="0" smtClean="0">
                <a:solidFill>
                  <a:schemeClr val="tx1"/>
                </a:solidFill>
              </a:rPr>
              <a:t>пользователя»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1600" b="1" dirty="0" smtClean="0">
                <a:solidFill>
                  <a:schemeClr val="tx1"/>
                </a:solidFill>
              </a:rPr>
              <a:t>US20090055739 A1: </a:t>
            </a:r>
            <a:r>
              <a:rPr lang="ru-RU" sz="1600" dirty="0" smtClean="0">
                <a:solidFill>
                  <a:schemeClr val="tx1"/>
                </a:solidFill>
              </a:rPr>
              <a:t>«Адаптивный </a:t>
            </a:r>
            <a:r>
              <a:rPr lang="ru-RU" sz="1600" dirty="0">
                <a:solidFill>
                  <a:schemeClr val="tx1"/>
                </a:solidFill>
              </a:rPr>
              <a:t>пользовательский интерфейс с учетом </a:t>
            </a:r>
            <a:r>
              <a:rPr lang="ru-RU" sz="1600" dirty="0" smtClean="0">
                <a:solidFill>
                  <a:schemeClr val="tx1"/>
                </a:solidFill>
              </a:rPr>
              <a:t>контекста»</a:t>
            </a:r>
          </a:p>
          <a:p>
            <a:pPr marL="342900" indent="-34290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1600" b="1" dirty="0" smtClean="0">
                <a:solidFill>
                  <a:schemeClr val="tx1"/>
                </a:solidFill>
              </a:rPr>
              <a:t>US</a:t>
            </a:r>
            <a:r>
              <a:rPr lang="ru-RU" sz="1600" b="1" dirty="0">
                <a:solidFill>
                  <a:schemeClr val="tx1"/>
                </a:solidFill>
              </a:rPr>
              <a:t>20240168776 </a:t>
            </a:r>
            <a:r>
              <a:rPr lang="en-GB" sz="1600" b="1" dirty="0">
                <a:solidFill>
                  <a:schemeClr val="tx1"/>
                </a:solidFill>
              </a:rPr>
              <a:t>A</a:t>
            </a:r>
            <a:r>
              <a:rPr lang="ru-RU" sz="1600" b="1" dirty="0" smtClean="0">
                <a:solidFill>
                  <a:schemeClr val="tx1"/>
                </a:solidFill>
              </a:rPr>
              <a:t>1</a:t>
            </a:r>
            <a:r>
              <a:rPr lang="en-GB" sz="1600" b="1" dirty="0" smtClean="0">
                <a:solidFill>
                  <a:schemeClr val="tx1"/>
                </a:solidFill>
              </a:rPr>
              <a:t>: </a:t>
            </a:r>
            <a:r>
              <a:rPr lang="ru-RU" sz="1600" dirty="0" smtClean="0">
                <a:solidFill>
                  <a:schemeClr val="tx1"/>
                </a:solidFill>
              </a:rPr>
              <a:t>«Динамические </a:t>
            </a:r>
            <a:r>
              <a:rPr lang="ru-RU" sz="1600" dirty="0">
                <a:solidFill>
                  <a:schemeClr val="tx1"/>
                </a:solidFill>
              </a:rPr>
              <a:t>интерфейсы на основе машинного обучения и состояния </a:t>
            </a:r>
            <a:r>
              <a:rPr lang="ru-RU" sz="1600" dirty="0" smtClean="0">
                <a:solidFill>
                  <a:schemeClr val="tx1"/>
                </a:solidFill>
              </a:rPr>
              <a:t>пользователя»</a:t>
            </a:r>
          </a:p>
          <a:p>
            <a:pPr algn="just">
              <a:lnSpc>
                <a:spcPct val="100000"/>
              </a:lnSpc>
            </a:pPr>
            <a:r>
              <a:rPr lang="ru-RU" sz="1800" b="1" dirty="0" smtClean="0">
                <a:solidFill>
                  <a:srgbClr val="005AAA"/>
                </a:solidFill>
              </a:rPr>
              <a:t>Изменение </a:t>
            </a:r>
            <a:r>
              <a:rPr lang="ru-RU" sz="1800" b="1" dirty="0">
                <a:solidFill>
                  <a:srgbClr val="005AAA"/>
                </a:solidFill>
              </a:rPr>
              <a:t>поведения робота при ухудшении состояния </a:t>
            </a:r>
            <a:r>
              <a:rPr lang="ru-RU" sz="1800" b="1" dirty="0" smtClean="0">
                <a:solidFill>
                  <a:srgbClr val="005AAA"/>
                </a:solidFill>
              </a:rPr>
              <a:t>оператора</a:t>
            </a:r>
          </a:p>
          <a:p>
            <a:pPr marL="342900" indent="-34290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1600" b="1" dirty="0" smtClean="0">
                <a:solidFill>
                  <a:schemeClr val="tx1"/>
                </a:solidFill>
              </a:rPr>
              <a:t>US</a:t>
            </a:r>
            <a:r>
              <a:rPr lang="ru-RU" sz="1600" b="1" dirty="0">
                <a:solidFill>
                  <a:schemeClr val="tx1"/>
                </a:solidFill>
              </a:rPr>
              <a:t>20230073916 </a:t>
            </a:r>
            <a:r>
              <a:rPr lang="en-GB" sz="1600" b="1" dirty="0">
                <a:solidFill>
                  <a:schemeClr val="tx1"/>
                </a:solidFill>
              </a:rPr>
              <a:t>A</a:t>
            </a:r>
            <a:r>
              <a:rPr lang="ru-RU" sz="1600" b="1" dirty="0" smtClean="0">
                <a:solidFill>
                  <a:schemeClr val="tx1"/>
                </a:solidFill>
              </a:rPr>
              <a:t>1</a:t>
            </a:r>
            <a:r>
              <a:rPr lang="en-GB" sz="1600" b="1" dirty="0" smtClean="0">
                <a:solidFill>
                  <a:schemeClr val="tx1"/>
                </a:solidFill>
              </a:rPr>
              <a:t>:</a:t>
            </a:r>
            <a:r>
              <a:rPr lang="en-GB" sz="1600" dirty="0" smtClean="0">
                <a:solidFill>
                  <a:schemeClr val="tx1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«Контроль </a:t>
            </a:r>
            <a:r>
              <a:rPr lang="ru-RU" sz="1600" dirty="0">
                <a:solidFill>
                  <a:schemeClr val="tx1"/>
                </a:solidFill>
              </a:rPr>
              <a:t>у</a:t>
            </a:r>
            <a:r>
              <a:rPr lang="ru-RU" sz="1600" dirty="0" smtClean="0">
                <a:solidFill>
                  <a:schemeClr val="tx1"/>
                </a:solidFill>
              </a:rPr>
              <a:t>сталости </a:t>
            </a:r>
            <a:r>
              <a:rPr lang="ru-RU" sz="1600" dirty="0">
                <a:solidFill>
                  <a:schemeClr val="tx1"/>
                </a:solidFill>
              </a:rPr>
              <a:t>о</a:t>
            </a:r>
            <a:r>
              <a:rPr lang="ru-RU" sz="1600" dirty="0" smtClean="0">
                <a:solidFill>
                  <a:schemeClr val="tx1"/>
                </a:solidFill>
              </a:rPr>
              <a:t>ператора»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1600" b="1" dirty="0" smtClean="0">
                <a:solidFill>
                  <a:schemeClr val="tx1"/>
                </a:solidFill>
              </a:rPr>
              <a:t>US</a:t>
            </a:r>
            <a:r>
              <a:rPr lang="ru-RU" sz="1600" b="1" dirty="0">
                <a:solidFill>
                  <a:schemeClr val="tx1"/>
                </a:solidFill>
              </a:rPr>
              <a:t>11783228 </a:t>
            </a:r>
            <a:r>
              <a:rPr lang="en-GB" sz="1600" b="1" dirty="0">
                <a:solidFill>
                  <a:schemeClr val="tx1"/>
                </a:solidFill>
              </a:rPr>
              <a:t>B</a:t>
            </a:r>
            <a:r>
              <a:rPr lang="ru-RU" sz="1600" b="1" dirty="0" smtClean="0">
                <a:solidFill>
                  <a:schemeClr val="tx1"/>
                </a:solidFill>
              </a:rPr>
              <a:t>2</a:t>
            </a:r>
            <a:r>
              <a:rPr lang="en-GB" sz="1600" b="1" dirty="0" smtClean="0">
                <a:solidFill>
                  <a:schemeClr val="tx1"/>
                </a:solidFill>
              </a:rPr>
              <a:t>:</a:t>
            </a:r>
            <a:r>
              <a:rPr lang="en-GB" sz="1600" dirty="0" smtClean="0">
                <a:solidFill>
                  <a:schemeClr val="tx1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«Система </a:t>
            </a:r>
            <a:r>
              <a:rPr lang="ru-RU" sz="1600" dirty="0">
                <a:solidFill>
                  <a:schemeClr val="tx1"/>
                </a:solidFill>
              </a:rPr>
              <a:t>и метод интеграции человека и </a:t>
            </a:r>
            <a:r>
              <a:rPr lang="ru-RU" sz="1600" dirty="0" smtClean="0">
                <a:solidFill>
                  <a:schemeClr val="tx1"/>
                </a:solidFill>
              </a:rPr>
              <a:t>машины»</a:t>
            </a:r>
            <a:endParaRPr lang="ru-RU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endParaRPr lang="ru-RU" sz="1800" b="1" dirty="0" smtClean="0">
              <a:solidFill>
                <a:srgbClr val="005AAA"/>
              </a:solidFill>
            </a:endParaRPr>
          </a:p>
          <a:p>
            <a:pPr algn="just"/>
            <a:endParaRPr lang="ru-RU" b="1" dirty="0"/>
          </a:p>
          <a:p>
            <a:pPr algn="just"/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274130" y="1696557"/>
            <a:ext cx="58228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lang="ru-RU" b="1" dirty="0">
                <a:solidFill>
                  <a:srgbClr val="005AAA"/>
                </a:solidFill>
              </a:rPr>
              <a:t>Критический анализ </a:t>
            </a:r>
            <a:r>
              <a:rPr lang="ru-RU" b="1" dirty="0" smtClean="0">
                <a:solidFill>
                  <a:srgbClr val="005AAA"/>
                </a:solidFill>
              </a:rPr>
              <a:t>патентного обзора</a:t>
            </a:r>
            <a:endParaRPr lang="en-GB" b="1" dirty="0" smtClean="0">
              <a:solidFill>
                <a:srgbClr val="005AAA"/>
              </a:solidFill>
            </a:endParaRPr>
          </a:p>
          <a:p>
            <a:pPr marL="171450" indent="-171450" algn="just">
              <a:spcAft>
                <a:spcPts val="1200"/>
              </a:spcAft>
              <a:buFont typeface="Wingdings" pitchFamily="2" charset="2"/>
              <a:buChar char="§"/>
            </a:pPr>
            <a:r>
              <a:rPr lang="ru-RU" sz="1600" dirty="0" smtClean="0"/>
              <a:t>Изменение только после наступления факта утомления, ошибки или нештатного события. </a:t>
            </a:r>
            <a:endParaRPr lang="en-GB" sz="1600" dirty="0" smtClean="0"/>
          </a:p>
          <a:p>
            <a:pPr marL="171450" indent="-171450" algn="just">
              <a:spcAft>
                <a:spcPts val="1200"/>
              </a:spcAft>
              <a:buFont typeface="Wingdings" pitchFamily="2" charset="2"/>
              <a:buChar char="§"/>
            </a:pPr>
            <a:r>
              <a:rPr lang="ru-RU" sz="1600" dirty="0" smtClean="0"/>
              <a:t>Периодические </a:t>
            </a:r>
            <a:r>
              <a:rPr lang="ru-RU" sz="1600" dirty="0"/>
              <a:t>опросы или диалоговые сессии для получения субъективных </a:t>
            </a:r>
            <a:r>
              <a:rPr lang="ru-RU" sz="1600" dirty="0" smtClean="0"/>
              <a:t>оценок служат </a:t>
            </a:r>
            <a:r>
              <a:rPr lang="ru-RU" sz="1600" dirty="0"/>
              <a:t>лишь для принятия сиюминутного решения об </a:t>
            </a:r>
            <a:r>
              <a:rPr lang="ru-RU" sz="1600" dirty="0" smtClean="0"/>
              <a:t>адаптации. В </a:t>
            </a:r>
            <a:r>
              <a:rPr lang="ru-RU" sz="1600" dirty="0"/>
              <a:t>качестве альтернативного подхода используются инвазивные физиологические датчики, которые обеспечивают непрерывный </a:t>
            </a:r>
            <a:r>
              <a:rPr lang="ru-RU" sz="1600" dirty="0" smtClean="0"/>
              <a:t>мониторинг</a:t>
            </a:r>
            <a:r>
              <a:rPr lang="ru-RU" sz="1600" dirty="0"/>
              <a:t>.</a:t>
            </a:r>
            <a:r>
              <a:rPr lang="ru-RU" sz="1600" dirty="0" smtClean="0"/>
              <a:t> </a:t>
            </a:r>
          </a:p>
          <a:p>
            <a:pPr marL="171450" indent="-171450" algn="just">
              <a:spcAft>
                <a:spcPts val="1200"/>
              </a:spcAft>
              <a:buFont typeface="Wingdings" pitchFamily="2" charset="2"/>
              <a:buChar char="§"/>
            </a:pPr>
            <a:r>
              <a:rPr lang="ru-RU" sz="1600" dirty="0" smtClean="0"/>
              <a:t>Третьим </a:t>
            </a:r>
            <a:r>
              <a:rPr lang="ru-RU" sz="1600" dirty="0"/>
              <a:t>существенным ограничением является одноканальность </a:t>
            </a:r>
            <a:r>
              <a:rPr lang="ru-RU" sz="1600" dirty="0" smtClean="0"/>
              <a:t>адаптации. В </a:t>
            </a:r>
            <a:r>
              <a:rPr lang="ru-RU" sz="1600" dirty="0"/>
              <a:t>большинстве решений изменения вносятся либо исключительно в графический интерфейс, либо только в поведение автоматики. </a:t>
            </a:r>
            <a:endParaRPr lang="en-GB" sz="1600" b="1" dirty="0" smtClean="0">
              <a:solidFill>
                <a:srgbClr val="005A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87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41777"/>
            <a:ext cx="9608330" cy="664797"/>
          </a:xfrm>
        </p:spPr>
        <p:txBody>
          <a:bodyPr/>
          <a:lstStyle/>
          <a:p>
            <a:r>
              <a:rPr lang="ru-RU" altLang="ru-RU" dirty="0" smtClean="0">
                <a:cs typeface="Times New Roman" panose="02020603050405020304" pitchFamily="18" charset="0"/>
              </a:rPr>
              <a:t>Математическая модель психофизиологического состояния человека-оператора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5550621" y="6272906"/>
            <a:ext cx="4671332" cy="5850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sz="1600" dirty="0"/>
              <a:t>Где </a:t>
            </a:r>
            <a:r>
              <a:rPr lang="en-GB" sz="1600" dirty="0"/>
              <a:t>S</a:t>
            </a:r>
            <a:r>
              <a:rPr lang="ru-RU" sz="1600" baseline="-25000" dirty="0"/>
              <a:t>0</a:t>
            </a:r>
            <a:r>
              <a:rPr lang="ru-RU" sz="1600" dirty="0"/>
              <a:t> - базовое значение уровня </a:t>
            </a:r>
            <a:r>
              <a:rPr lang="ru-RU" sz="1600" dirty="0" smtClean="0"/>
              <a:t>автономности;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GB" sz="1600" dirty="0" smtClean="0"/>
              <a:t>k</a:t>
            </a:r>
            <a:r>
              <a:rPr lang="en-GB" sz="1600" baseline="-25000" dirty="0" smtClean="0"/>
              <a:t>w</a:t>
            </a:r>
            <a:r>
              <a:rPr lang="ru-RU" sz="1600" dirty="0"/>
              <a:t>, </a:t>
            </a:r>
            <a:r>
              <a:rPr lang="en-GB" sz="1600" dirty="0" err="1"/>
              <a:t>k</a:t>
            </a:r>
            <a:r>
              <a:rPr lang="en-GB" sz="1600" baseline="-25000" dirty="0" err="1"/>
              <a:t>F</a:t>
            </a:r>
            <a:r>
              <a:rPr lang="ru-RU" sz="1600" dirty="0"/>
              <a:t>, </a:t>
            </a:r>
            <a:r>
              <a:rPr lang="en-GB" sz="1600" dirty="0" err="1"/>
              <a:t>k</a:t>
            </a:r>
            <a:r>
              <a:rPr lang="en-GB" sz="1600" baseline="-25000" dirty="0" err="1"/>
              <a:t>E</a:t>
            </a:r>
            <a:r>
              <a:rPr lang="ru-RU" sz="1600" dirty="0"/>
              <a:t> – коэффициенты </a:t>
            </a:r>
            <a:r>
              <a:rPr lang="ru-RU" sz="1600" dirty="0" smtClean="0"/>
              <a:t>чувствительности</a:t>
            </a:r>
            <a:r>
              <a:rPr lang="en-GB" sz="1600" dirty="0" smtClean="0"/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ru-RU" sz="1600" dirty="0" smtClean="0"/>
          </a:p>
          <a:p>
            <a:endParaRPr lang="ru-RU" sz="1600" dirty="0"/>
          </a:p>
        </p:txBody>
      </p:sp>
      <p:pic>
        <p:nvPicPr>
          <p:cNvPr id="5" name="image12.jp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50863" y="3760424"/>
            <a:ext cx="3953967" cy="2748929"/>
          </a:xfrm>
          <a:prstGeom prst="rect">
            <a:avLst/>
          </a:prstGeom>
          <a:ln/>
        </p:spPr>
      </p:pic>
      <p:pic>
        <p:nvPicPr>
          <p:cNvPr id="6" name="image6.png" descr="{&quot;mathml&quot;:&quot;&lt;math style=\&quot;font-family:Times New Roman;font-size:12px;\&quot; xmlns=\&quot;http://www.w3.org/1998/Math/MathML\&quot;&gt;&lt;mstyle mathsize=\&quot;12px\&quot;&gt;&lt;mfenced open=\&quot;{\&quot; close=\&quot;\&quot;&gt;&lt;mtable columnalign=\&quot;left\&quot;&gt;&lt;mtr&gt;&lt;mtd&gt;&lt;mfrac&gt;&lt;mrow&gt;&lt;mo&gt;d&lt;/mo&gt;&lt;mi&gt;W&lt;/mi&gt;&lt;/mrow&gt;&lt;mrow&gt;&lt;mo&gt;d&lt;/mo&gt;&lt;mi&gt;t&lt;/mi&gt;&lt;/mrow&gt;&lt;/mfrac&gt;&lt;mo&gt;=&lt;/mo&gt;&lt;msub&gt;&lt;mover&gt;&lt;mi&gt;a&lt;/mi&gt;&lt;mo&gt;~&lt;/mo&gt;&lt;/mover&gt;&lt;mn&gt;1&lt;/mn&gt;&lt;/msub&gt;&lt;mfrac&gt;&lt;mi&gt;W&lt;/mi&gt;&lt;mrow&gt;&lt;msub&gt;&lt;mi&gt;d&lt;/mi&gt;&lt;mn&gt;1&lt;/mn&gt;&lt;/msub&gt;&lt;mi&gt;W&lt;/mi&gt;&lt;mo&gt;+&lt;/mo&gt;&lt;msub&gt;&lt;mi&gt;c&lt;/mi&gt;&lt;mn&gt;1&lt;/mn&gt;&lt;/msub&gt;&lt;/mrow&gt;&lt;/mfrac&gt;&lt;mo&gt;&amp;#xB7;&lt;/mo&gt;&lt;mfenced&gt;&lt;mrow&gt;&lt;mn&gt;1&lt;/mn&gt;&lt;mo&gt;-&lt;/mo&gt;&lt;mfrac&gt;&lt;mi&gt;W&lt;/mi&gt;&lt;msub&gt;&lt;mover&gt;&lt;mi&gt;k&lt;/mi&gt;&lt;mo&gt;~&lt;/mo&gt;&lt;/mover&gt;&lt;mn&gt;1&lt;/mn&gt;&lt;/msub&gt;&lt;/mfrac&gt;&lt;/mrow&gt;&lt;/mfenced&gt;&lt;mo&gt;-&lt;/mo&gt;&lt;msub&gt;&lt;mover&gt;&lt;mi&gt;b&lt;/mi&gt;&lt;mo&gt;~&lt;/mo&gt;&lt;/mover&gt;&lt;mn&gt;1&lt;/mn&gt;&lt;/msub&gt;&lt;mi&gt;W&lt;/mi&gt;&lt;mi&gt;F&lt;/mi&gt;&lt;mo&gt;-&lt;/mo&gt;&lt;msub&gt;&lt;mover&gt;&lt;mi&gt;h&lt;/mi&gt;&lt;mo&gt;~&lt;/mo&gt;&lt;/mover&gt;&lt;mn&gt;1&lt;/mn&gt;&lt;/msub&gt;&lt;mi&gt;W&lt;/mi&gt;&lt;mi&gt;E&lt;/mi&gt;&lt;mo&gt;-&lt;/mo&gt;&lt;msub&gt;&lt;mover&gt;&lt;mi&gt;&amp;#x3B3;&lt;/mi&gt;&lt;mo&gt;~&lt;/mo&gt;&lt;/mover&gt;&lt;mn&gt;1&lt;/mn&gt;&lt;/msub&gt;&lt;mi&gt;L&lt;/mi&gt;&lt;mfenced&gt;&lt;mrow&gt;&lt;mn&gt;1&lt;/mn&gt;&lt;mo&gt;-&lt;/mo&gt;&lt;mi&gt;S&lt;/mi&gt;&lt;/mrow&gt;&lt;/mfenced&gt;&lt;/mtd&gt;&lt;/mtr&gt;&lt;mtr&gt;&lt;mtd&gt;&lt;mfrac&gt;&lt;mrow&gt;&lt;mo&gt;d&lt;/mo&gt;&lt;mi&gt;F&lt;/mi&gt;&lt;/mrow&gt;&lt;mrow&gt;&lt;mo&gt;d&lt;/mo&gt;&lt;mi&gt;t&lt;/mi&gt;&lt;/mrow&gt;&lt;/mfrac&gt;&lt;mo&gt;=&lt;/mo&gt;&lt;msub&gt;&lt;mover&gt;&lt;mi&gt;a&lt;/mi&gt;&lt;mo&gt;~&lt;/mo&gt;&lt;/mover&gt;&lt;mn&gt;2&lt;/mn&gt;&lt;/msub&gt;&lt;mfrac&gt;&lt;mi&gt;F&lt;/mi&gt;&lt;mrow&gt;&lt;msub&gt;&lt;mi&gt;d&lt;/mi&gt;&lt;mn&gt;2&lt;/mn&gt;&lt;/msub&gt;&lt;mi&gt;F&lt;/mi&gt;&lt;mo&gt;+&lt;/mo&gt;&lt;msub&gt;&lt;mi&gt;c&lt;/mi&gt;&lt;mn&gt;2&lt;/mn&gt;&lt;/msub&gt;&lt;/mrow&gt;&lt;/mfrac&gt;&lt;mo&gt;&amp;#xB7;&lt;/mo&gt;&lt;mfenced&gt;&lt;mrow&gt;&lt;mn&gt;1&lt;/mn&gt;&lt;mo&gt;-&lt;/mo&gt;&lt;mfrac&gt;&lt;mi&gt;F&lt;/mi&gt;&lt;msub&gt;&lt;mover&gt;&lt;mi&gt;k&lt;/mi&gt;&lt;mo&gt;~&lt;/mo&gt;&lt;/mover&gt;&lt;mn&gt;2&lt;/mn&gt;&lt;/msub&gt;&lt;/mfrac&gt;&lt;/mrow&gt;&lt;/mfenced&gt;&lt;mo&gt;+&lt;/mo&gt;&lt;msub&gt;&lt;mover&gt;&lt;mi&gt;b&lt;/mi&gt;&lt;mo&gt;~&lt;/mo&gt;&lt;/mover&gt;&lt;mn&gt;2&lt;/mn&gt;&lt;/msub&gt;&lt;mi&gt;W&lt;/mi&gt;&lt;mi&gt;F&lt;/mi&gt;&lt;mo&gt;+&lt;/mo&gt;&lt;msub&gt;&lt;mover&gt;&lt;mi&gt;&amp;#x3B3;&lt;/mi&gt;&lt;mo&gt;~&lt;/mo&gt;&lt;/mover&gt;&lt;mn&gt;2&lt;/mn&gt;&lt;/msub&gt;&lt;mi&gt;L&lt;/mi&gt;&lt;mfenced&gt;&lt;mrow&gt;&lt;mn&gt;1&lt;/mn&gt;&lt;mo&gt;-&lt;/mo&gt;&lt;mi&gt;S&lt;/mi&gt;&lt;/mrow&gt;&lt;/mfenced&gt;&lt;/mtd&gt;&lt;/mtr&gt;&lt;mtr&gt;&lt;mtd&gt;&lt;mfrac&gt;&lt;mrow&gt;&lt;mo&gt;d&lt;/mo&gt;&lt;mi&gt;E&lt;/mi&gt;&lt;/mrow&gt;&lt;mrow&gt;&lt;mo&gt;d&lt;/mo&gt;&lt;mi&gt;t&lt;/mi&gt;&lt;/mrow&gt;&lt;/mfrac&gt;&lt;mo&gt;=&lt;/mo&gt;&lt;msub&gt;&lt;mover&gt;&lt;mi&gt;a&lt;/mi&gt;&lt;mo&gt;~&lt;/mo&gt;&lt;/mover&gt;&lt;mn&gt;3&lt;/mn&gt;&lt;/msub&gt;&lt;mfrac&gt;&lt;mi&gt;E&lt;/mi&gt;&lt;mrow&gt;&lt;msub&gt;&lt;mi&gt;d&lt;/mi&gt;&lt;mn&gt;3&lt;/mn&gt;&lt;/msub&gt;&lt;mi&gt;E&lt;/mi&gt;&lt;mo&gt;+&lt;/mo&gt;&lt;msub&gt;&lt;mi&gt;c&lt;/mi&gt;&lt;mn&gt;3&lt;/mn&gt;&lt;/msub&gt;&lt;/mrow&gt;&lt;/mfrac&gt;&lt;mo&gt;&amp;#xB7;&lt;/mo&gt;&lt;mfenced&gt;&lt;mrow&gt;&lt;mn&gt;1&lt;/mn&gt;&lt;mo&gt;-&lt;/mo&gt;&lt;mfrac&gt;&lt;mi&gt;E&lt;/mi&gt;&lt;msub&gt;&lt;mover&gt;&lt;mi&gt;k&lt;/mi&gt;&lt;mo&gt;~&lt;/mo&gt;&lt;/mover&gt;&lt;mn&gt;3&lt;/mn&gt;&lt;/msub&gt;&lt;/mfrac&gt;&lt;/mrow&gt;&lt;/mfenced&gt;&lt;mo&gt;+&lt;/mo&gt;&lt;msub&gt;&lt;mover&gt;&lt;mi&gt;b&lt;/mi&gt;&lt;mo&gt;~&lt;/mo&gt;&lt;/mover&gt;&lt;mn&gt;3&lt;/mn&gt;&lt;/msub&gt;&lt;mi&gt;F&lt;/mi&gt;&lt;mi&gt;E&lt;/mi&gt;&lt;mo&gt;&amp;#xA0;&lt;/mo&gt;&lt;mo&gt;+&lt;/mo&gt;&lt;msub&gt;&lt;mover&gt;&lt;mi&gt;&amp;#x3B3;&lt;/mi&gt;&lt;mo&gt;~&lt;/mo&gt;&lt;/mover&gt;&lt;mn&gt;3&lt;/mn&gt;&lt;/msub&gt;&lt;mi&gt;L&lt;/mi&gt;&lt;mfenced&gt;&lt;mrow&gt;&lt;mn&gt;1&lt;/mn&gt;&lt;mo&gt;-&lt;/mo&gt;&lt;mi&gt;S&lt;/mi&gt;&lt;/mrow&gt;&lt;/mfenced&gt;&lt;/mtd&gt;&lt;/mtr&gt;&lt;/mtable&gt;&lt;/mfenced&gt;&lt;mspace linebreak=\&quot;newline\&quot;/&gt;&lt;/mstyle&gt;&lt;/math&gt;&quot;,&quot;truncated&quot;:false}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467322" y="1509830"/>
            <a:ext cx="6215178" cy="2558248"/>
          </a:xfrm>
          <a:prstGeom prst="rect">
            <a:avLst/>
          </a:prstGeom>
          <a:ln/>
        </p:spPr>
      </p:pic>
      <p:pic>
        <p:nvPicPr>
          <p:cNvPr id="7" name="image1.png" descr="{&quot;mathml&quot;:&quot;&lt;math style=\&quot;font-family:Times New Roman;font-size:12px;\&quot; xmlns=\&quot;http://www.w3.org/1998/Math/MathML\&quot;&gt;&lt;mstyle mathsize=\&quot;12px\&quot;&gt;&lt;mi&gt;S&lt;/mi&gt;&lt;mfenced&gt;&lt;mi&gt;t&lt;/mi&gt;&lt;/mfenced&gt;&lt;mo&gt;=&lt;/mo&gt;&lt;msub&gt;&lt;mi&gt;S&lt;/mi&gt;&lt;mn&gt;0&lt;/mn&gt;&lt;/msub&gt;&lt;mo&gt;+&lt;/mo&gt;&lt;msub&gt;&lt;mi&gt;k&lt;/mi&gt;&lt;mi&gt;W&lt;/mi&gt;&lt;/msub&gt;&lt;mfenced&gt;&lt;mrow&gt;&lt;mn&gt;1&lt;/mn&gt;&lt;mo&gt;-&lt;/mo&gt;&lt;mi&gt;W&lt;/mi&gt;&lt;mfenced&gt;&lt;mi&gt;t&lt;/mi&gt;&lt;/mfenced&gt;&lt;/mrow&gt;&lt;/mfenced&gt;&lt;mo&gt;+&lt;/mo&gt;&lt;msub&gt;&lt;mi&gt;k&lt;/mi&gt;&lt;mi&gt;F&lt;/mi&gt;&lt;/msub&gt;&lt;mi&gt;F&lt;/mi&gt;&lt;mfenced&gt;&lt;mi&gt;t&lt;/mi&gt;&lt;/mfenced&gt;&lt;mo&gt;+&lt;/mo&gt;&lt;msub&gt;&lt;mi&gt;k&lt;/mi&gt;&lt;mi&gt;E&lt;/mi&gt;&lt;/msub&gt;&lt;mi&gt;E&lt;/mi&gt;&lt;mfenced&gt;&lt;mi&gt;t&lt;/mi&gt;&lt;/mfenced&gt;&lt;/mstyle&gt;&lt;/math&gt;&quot;,&quot;truncated&quot;:false}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550621" y="5862798"/>
            <a:ext cx="4456693" cy="369707"/>
          </a:xfrm>
          <a:prstGeom prst="rect">
            <a:avLst/>
          </a:prstGeom>
          <a:ln/>
        </p:spPr>
      </p:pic>
      <p:pic>
        <p:nvPicPr>
          <p:cNvPr id="9" name="image5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3991087" y="1031375"/>
            <a:ext cx="7910457" cy="377878"/>
          </a:xfrm>
          <a:prstGeom prst="rect">
            <a:avLst/>
          </a:prstGeom>
          <a:ln/>
        </p:spPr>
      </p:pic>
      <p:pic>
        <p:nvPicPr>
          <p:cNvPr id="10" name="Рисунок 9"/>
          <p:cNvPicPr/>
          <p:nvPr/>
        </p:nvPicPr>
        <p:blipFill>
          <a:blip r:embed="rId7"/>
          <a:stretch>
            <a:fillRect/>
          </a:stretch>
        </p:blipFill>
        <p:spPr>
          <a:xfrm>
            <a:off x="260404" y="1031374"/>
            <a:ext cx="3543559" cy="2558248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631856" y="3589622"/>
            <a:ext cx="3595897" cy="285692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Рисунок 1 – Ориентированный граф</a:t>
            </a:r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498525" y="6509353"/>
            <a:ext cx="3648233" cy="343670"/>
          </a:xfrm>
          <a:prstGeom prst="rect">
            <a:avLst/>
          </a:prstGeom>
        </p:spPr>
        <p:txBody>
          <a:bodyPr vert="horz" lIns="0" tIns="0" rIns="0" bIns="0" numCol="1" spcCol="72000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Рисунок 2 – </a:t>
            </a:r>
            <a:r>
              <a:rPr lang="ru-RU" sz="1400" b="1" dirty="0"/>
              <a:t>Граф взаимосвязей функциональных характеристик человека-оператора и внешних факторов</a:t>
            </a:r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Текст 3"/>
          <p:cNvSpPr txBox="1">
            <a:spLocks/>
          </p:cNvSpPr>
          <p:nvPr/>
        </p:nvSpPr>
        <p:spPr>
          <a:xfrm>
            <a:off x="5550621" y="4118070"/>
            <a:ext cx="4061177" cy="1744728"/>
          </a:xfrm>
          <a:prstGeom prst="rect">
            <a:avLst/>
          </a:prstGeom>
        </p:spPr>
        <p:txBody>
          <a:bodyPr vert="horz" lIns="0" tIns="0" rIns="0" bIns="0" numCol="1" spcCol="72000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600" dirty="0" smtClean="0"/>
              <a:t>Где</a:t>
            </a:r>
            <a:r>
              <a:rPr lang="en-GB" sz="1600" dirty="0" smtClean="0"/>
              <a:t> W</a:t>
            </a:r>
            <a:r>
              <a:rPr lang="ru-RU" sz="1600" dirty="0"/>
              <a:t>(</a:t>
            </a:r>
            <a:r>
              <a:rPr lang="en-GB" sz="1600" dirty="0"/>
              <a:t>t</a:t>
            </a:r>
            <a:r>
              <a:rPr lang="ru-RU" sz="1600" dirty="0" smtClean="0"/>
              <a:t>)</a:t>
            </a:r>
            <a:r>
              <a:rPr lang="en-GB" sz="1600" dirty="0" smtClean="0"/>
              <a:t> – </a:t>
            </a:r>
            <a:r>
              <a:rPr lang="ru-RU" sz="1600" dirty="0" smtClean="0"/>
              <a:t>показатель работоспособности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F</a:t>
            </a:r>
            <a:r>
              <a:rPr lang="ru-RU" sz="1600" dirty="0"/>
              <a:t>(</a:t>
            </a:r>
            <a:r>
              <a:rPr lang="en-GB" sz="1600" dirty="0"/>
              <a:t>t</a:t>
            </a:r>
            <a:r>
              <a:rPr lang="ru-RU" sz="1600" dirty="0" smtClean="0"/>
              <a:t>) – показатель утомляемости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E</a:t>
            </a:r>
            <a:r>
              <a:rPr lang="ru-RU" sz="1600" dirty="0"/>
              <a:t>(</a:t>
            </a:r>
            <a:r>
              <a:rPr lang="en-GB" sz="1600" dirty="0"/>
              <a:t>t</a:t>
            </a:r>
            <a:r>
              <a:rPr lang="ru-RU" sz="1600" dirty="0" smtClean="0"/>
              <a:t>) – показатель </a:t>
            </a:r>
            <a:r>
              <a:rPr lang="ru-RU" sz="1600" dirty="0" err="1" smtClean="0"/>
              <a:t>ошибаемости</a:t>
            </a:r>
            <a:endParaRPr lang="ru-RU" sz="1600" dirty="0" smtClean="0"/>
          </a:p>
          <a:p>
            <a:pPr>
              <a:lnSpc>
                <a:spcPct val="100000"/>
              </a:lnSpc>
            </a:pPr>
            <a:r>
              <a:rPr lang="en-GB" sz="1600" dirty="0"/>
              <a:t>L</a:t>
            </a:r>
            <a:r>
              <a:rPr lang="ru-RU" sz="1600" dirty="0"/>
              <a:t>(</a:t>
            </a:r>
            <a:r>
              <a:rPr lang="en-GB" sz="1600" dirty="0"/>
              <a:t>t</a:t>
            </a:r>
            <a:r>
              <a:rPr lang="ru-RU" sz="1600" dirty="0" smtClean="0"/>
              <a:t>) – показатель производственной нагрузки</a:t>
            </a:r>
          </a:p>
          <a:p>
            <a:pPr>
              <a:lnSpc>
                <a:spcPct val="100000"/>
              </a:lnSpc>
            </a:pPr>
            <a:r>
              <a:rPr lang="en-GB" sz="1600" dirty="0" smtClean="0"/>
              <a:t>S(t) –</a:t>
            </a:r>
            <a:r>
              <a:rPr lang="ru-RU" sz="1600" dirty="0" smtClean="0"/>
              <a:t> показатель автономности</a:t>
            </a:r>
          </a:p>
          <a:p>
            <a:pPr>
              <a:lnSpc>
                <a:spcPct val="100000"/>
              </a:lnSpc>
            </a:pPr>
            <a:endParaRPr lang="ru-RU" sz="16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0" y="7018338"/>
            <a:ext cx="5184775" cy="504031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95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 smtClean="0"/>
              <a:t>Предиктивный алгоритм </a:t>
            </a:r>
            <a:r>
              <a:rPr lang="ru-RU" dirty="0"/>
              <a:t>на основе машинного обучения</a:t>
            </a: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7628236" y="1014987"/>
            <a:ext cx="3973955" cy="3205132"/>
          </a:xfrm>
          <a:prstGeom prst="rect">
            <a:avLst/>
          </a:prstGeom>
        </p:spPr>
      </p:pic>
      <p:sp>
        <p:nvSpPr>
          <p:cNvPr id="13" name="Текст 12"/>
          <p:cNvSpPr>
            <a:spLocks noGrp="1"/>
          </p:cNvSpPr>
          <p:nvPr>
            <p:ph type="body" sz="quarter" idx="12"/>
          </p:nvPr>
        </p:nvSpPr>
        <p:spPr>
          <a:xfrm>
            <a:off x="4932856" y="4348516"/>
            <a:ext cx="6954343" cy="2357727"/>
          </a:xfrm>
        </p:spPr>
        <p:txBody>
          <a:bodyPr>
            <a:normAutofit/>
          </a:bodyPr>
          <a:lstStyle/>
          <a:p>
            <a:pPr algn="just"/>
            <a:r>
              <a:rPr lang="ru-RU" sz="1600" dirty="0" smtClean="0">
                <a:solidFill>
                  <a:schemeClr val="tx1"/>
                </a:solidFill>
              </a:rPr>
              <a:t>Прогнозирование </a:t>
            </a:r>
            <a:r>
              <a:rPr lang="ru-RU" sz="1600" dirty="0">
                <a:solidFill>
                  <a:schemeClr val="tx1"/>
                </a:solidFill>
              </a:rPr>
              <a:t>осуществляется с использованием минимального набора признаков, доступных без дополнительных сенсоров: параметры текущего времени, дня недели и сложности технологического процесса. </a:t>
            </a:r>
            <a:endParaRPr lang="en-GB" sz="1600" dirty="0">
              <a:solidFill>
                <a:schemeClr val="tx1"/>
              </a:solidFill>
            </a:endParaRPr>
          </a:p>
          <a:p>
            <a:pPr algn="just"/>
            <a:r>
              <a:rPr lang="ru-RU" sz="1600" dirty="0">
                <a:solidFill>
                  <a:schemeClr val="tx1"/>
                </a:solidFill>
              </a:rPr>
              <a:t>Периодические субъективные оценки оператора служат основой для построения индивидуального профиля </a:t>
            </a:r>
            <a:r>
              <a:rPr lang="ru-RU" sz="1600" dirty="0" smtClean="0">
                <a:solidFill>
                  <a:schemeClr val="tx1"/>
                </a:solidFill>
              </a:rPr>
              <a:t>работоспособности.</a:t>
            </a:r>
          </a:p>
          <a:p>
            <a:pPr algn="just"/>
            <a:r>
              <a:rPr lang="ru-RU" sz="1600" dirty="0" smtClean="0">
                <a:solidFill>
                  <a:schemeClr val="tx1"/>
                </a:solidFill>
              </a:rPr>
              <a:t>В качестве модели классификатора использовалась логистическая регрессия. </a:t>
            </a:r>
            <a:r>
              <a:rPr lang="ru-RU" sz="1600" dirty="0">
                <a:solidFill>
                  <a:schemeClr val="tx1"/>
                </a:solidFill>
              </a:rPr>
              <a:t>Реализация выполнена средствами библиотеки «</a:t>
            </a:r>
            <a:r>
              <a:rPr lang="en-GB" sz="1600" dirty="0" err="1">
                <a:solidFill>
                  <a:schemeClr val="tx1"/>
                </a:solidFill>
              </a:rPr>
              <a:t>scikit</a:t>
            </a:r>
            <a:r>
              <a:rPr lang="ru-RU" sz="1600" dirty="0">
                <a:solidFill>
                  <a:schemeClr val="tx1"/>
                </a:solidFill>
              </a:rPr>
              <a:t>-</a:t>
            </a:r>
            <a:r>
              <a:rPr lang="en-GB" sz="1600" dirty="0">
                <a:solidFill>
                  <a:schemeClr val="tx1"/>
                </a:solidFill>
              </a:rPr>
              <a:t>learn</a:t>
            </a:r>
            <a:r>
              <a:rPr lang="ru-RU" sz="1600" dirty="0" smtClean="0">
                <a:solidFill>
                  <a:schemeClr val="tx1"/>
                </a:solidFill>
              </a:rPr>
              <a:t>».</a:t>
            </a:r>
            <a:endParaRPr lang="ru-RU" sz="1600" dirty="0">
              <a:solidFill>
                <a:schemeClr val="tx1"/>
              </a:solidFill>
            </a:endParaRPr>
          </a:p>
          <a:p>
            <a:pPr algn="just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50863" y="1110357"/>
            <a:ext cx="69305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ru-RU" sz="1600" dirty="0" smtClean="0"/>
              <a:t>Обучаемая </a:t>
            </a:r>
            <a:r>
              <a:rPr lang="ru-RU" sz="1600" dirty="0"/>
              <a:t>модель выявляет характерные для конкретного оператора закономерности изменения состояния в течение смены. </a:t>
            </a:r>
            <a:endParaRPr lang="ru-RU" sz="1600" dirty="0" smtClean="0"/>
          </a:p>
          <a:p>
            <a:pPr algn="just">
              <a:spcAft>
                <a:spcPts val="1200"/>
              </a:spcAft>
            </a:pPr>
            <a:r>
              <a:rPr lang="ru-RU" sz="1600" dirty="0"/>
              <a:t>На основе накопленных данных модель прогнозирует наступление фаз выраженного утомления до того, как они приведут к ошибкам или опасным ситуациям. </a:t>
            </a:r>
            <a:endParaRPr lang="en-GB" sz="1600" dirty="0"/>
          </a:p>
          <a:p>
            <a:pPr algn="just">
              <a:spcAft>
                <a:spcPts val="1200"/>
              </a:spcAft>
            </a:pPr>
            <a:r>
              <a:rPr lang="ru-RU" sz="1600" dirty="0"/>
              <a:t>Предсказанный </a:t>
            </a:r>
            <a:r>
              <a:rPr lang="ru-RU" sz="1600" dirty="0" smtClean="0"/>
              <a:t>класс степени </a:t>
            </a:r>
            <a:r>
              <a:rPr lang="ru-RU" sz="1600" dirty="0"/>
              <a:t>утомленности человека инициирует автоматическую адаптацию системы.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50863" y="6567743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>
                <a:solidFill>
                  <a:srgbClr val="005AAA"/>
                </a:solidFill>
              </a:rPr>
              <a:t>*</a:t>
            </a:r>
            <a:r>
              <a:rPr lang="ru-RU" sz="1200" dirty="0" smtClean="0"/>
              <a:t> </a:t>
            </a:r>
            <a:r>
              <a:rPr lang="ru-RU" sz="1200" dirty="0" smtClean="0">
                <a:solidFill>
                  <a:srgbClr val="005AAA"/>
                </a:solidFill>
              </a:rPr>
              <a:t>Пунктирная </a:t>
            </a:r>
            <a:r>
              <a:rPr lang="ru-RU" sz="1200" dirty="0">
                <a:solidFill>
                  <a:srgbClr val="005AAA"/>
                </a:solidFill>
              </a:rPr>
              <a:t>линия представляет кривую ROC чисто случайного классификатора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4" y="3230845"/>
            <a:ext cx="4257675" cy="3336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489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41777"/>
            <a:ext cx="9608330" cy="664797"/>
          </a:xfrm>
        </p:spPr>
        <p:txBody>
          <a:bodyPr/>
          <a:lstStyle/>
          <a:p>
            <a:r>
              <a:rPr lang="ru-RU" altLang="ru-RU" dirty="0" smtClean="0">
                <a:cs typeface="Times New Roman" panose="02020603050405020304" pitchFamily="18" charset="0"/>
              </a:rPr>
              <a:t>Структура интеллектуальной системы с учетом зон безопасности и процессом восприятия информации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073" y="-1363196"/>
            <a:ext cx="11810788" cy="1200038"/>
          </a:xfrm>
        </p:spPr>
        <p:txBody>
          <a:bodyPr>
            <a:normAutofit/>
          </a:bodyPr>
          <a:lstStyle/>
          <a:p>
            <a:r>
              <a:rPr lang="ru-RU" altLang="ru-RU" b="1" dirty="0">
                <a:cs typeface="Times New Roman" panose="02020603050405020304" pitchFamily="18" charset="0"/>
              </a:rPr>
              <a:t>Результаты расчета по заявленным задачам</a:t>
            </a:r>
            <a:endParaRPr lang="en-US" altLang="ru-RU" b="1" dirty="0">
              <a:cs typeface="Times New Roman" panose="02020603050405020304" pitchFamily="18" charset="0"/>
            </a:endParaRPr>
          </a:p>
          <a:p>
            <a:r>
              <a:rPr lang="ru-RU" altLang="ru-RU" b="1" dirty="0">
                <a:cs typeface="Times New Roman" panose="02020603050405020304" pitchFamily="18" charset="0"/>
              </a:rPr>
              <a:t>Конструкция (если необходимо</a:t>
            </a:r>
            <a:r>
              <a:rPr lang="ru-RU" altLang="ru-RU" b="1" dirty="0" smtClean="0">
                <a:cs typeface="Times New Roman" panose="02020603050405020304" pitchFamily="18" charset="0"/>
              </a:rPr>
              <a:t>)</a:t>
            </a:r>
            <a:endParaRPr lang="ru-RU" altLang="ru-RU" b="1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78071" y="3382992"/>
            <a:ext cx="5538521" cy="2674136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61" y="1007960"/>
            <a:ext cx="10348605" cy="177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4163646" y="2958928"/>
            <a:ext cx="3648233" cy="343670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Рисунок – Граф </a:t>
            </a:r>
            <a:r>
              <a:rPr lang="en-GB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C4</a:t>
            </a:r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 контекст</a:t>
            </a:r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1227364" y="5781676"/>
            <a:ext cx="3648233" cy="942974"/>
          </a:xfrm>
          <a:prstGeom prst="rect">
            <a:avLst/>
          </a:prstGeom>
        </p:spPr>
        <p:txBody>
          <a:bodyPr vert="horz" lIns="0" tIns="0" rIns="0" bIns="0" numCol="1" spcCol="72000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Рисунок </a:t>
            </a:r>
            <a:r>
              <a:rPr lang="ru-RU" altLang="ru-RU" sz="1400" b="1" dirty="0">
                <a:solidFill>
                  <a:srgbClr val="005AAA"/>
                </a:solidFill>
                <a:cs typeface="Times New Roman" panose="02020603050405020304" pitchFamily="18" charset="0"/>
              </a:rPr>
              <a:t>– Пример совместного рабочего </a:t>
            </a:r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пространства</a:t>
            </a:r>
          </a:p>
          <a:p>
            <a:pPr algn="ctr"/>
            <a:r>
              <a:rPr lang="ru-RU" altLang="ru-RU" sz="1400" b="1" dirty="0">
                <a:solidFill>
                  <a:srgbClr val="005AAA"/>
                </a:solidFill>
                <a:cs typeface="Times New Roman" panose="02020603050405020304" pitchFamily="18" charset="0"/>
              </a:rPr>
              <a:t>1 - область действия робота; 2 - совместное рабочее пространство</a:t>
            </a:r>
            <a:endParaRPr lang="ru-RU" altLang="ru-RU" sz="1400" b="1" dirty="0" smtClean="0">
              <a:solidFill>
                <a:srgbClr val="005AAA"/>
              </a:solidFill>
              <a:cs typeface="Times New Roman" panose="02020603050405020304" pitchFamily="18" charset="0"/>
            </a:endParaRPr>
          </a:p>
          <a:p>
            <a:pPr algn="ctr"/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  <a:p>
            <a:pPr algn="ctr"/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7023214" y="6222368"/>
            <a:ext cx="3981859" cy="343670"/>
          </a:xfrm>
          <a:prstGeom prst="rect">
            <a:avLst/>
          </a:prstGeom>
        </p:spPr>
        <p:txBody>
          <a:bodyPr vert="horz" lIns="0" tIns="0" rIns="0" bIns="0" numCol="1" spcCol="72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Рисунок – Процесс восприятия информации человеком от внешней среды</a:t>
            </a:r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3609975"/>
            <a:ext cx="3133725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75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altLang="ru-RU" dirty="0" smtClean="0">
                <a:cs typeface="Times New Roman" panose="02020603050405020304" pitchFamily="18" charset="0"/>
              </a:rPr>
              <a:t>Структура интеллектуальной системы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073" y="-1363196"/>
            <a:ext cx="11810788" cy="1200038"/>
          </a:xfrm>
        </p:spPr>
        <p:txBody>
          <a:bodyPr>
            <a:normAutofit/>
          </a:bodyPr>
          <a:lstStyle/>
          <a:p>
            <a:r>
              <a:rPr lang="ru-RU" altLang="ru-RU" b="1" dirty="0">
                <a:cs typeface="Times New Roman" panose="02020603050405020304" pitchFamily="18" charset="0"/>
              </a:rPr>
              <a:t>Результаты расчета по заявленным задачам</a:t>
            </a:r>
            <a:endParaRPr lang="en-US" altLang="ru-RU" b="1" dirty="0">
              <a:cs typeface="Times New Roman" panose="02020603050405020304" pitchFamily="18" charset="0"/>
            </a:endParaRPr>
          </a:p>
          <a:p>
            <a:r>
              <a:rPr lang="ru-RU" altLang="ru-RU" b="1" dirty="0">
                <a:cs typeface="Times New Roman" panose="02020603050405020304" pitchFamily="18" charset="0"/>
              </a:rPr>
              <a:t>Конструкция (если необходимо</a:t>
            </a:r>
            <a:r>
              <a:rPr lang="ru-RU" altLang="ru-RU" b="1" dirty="0" smtClean="0">
                <a:cs typeface="Times New Roman" panose="02020603050405020304" pitchFamily="18" charset="0"/>
              </a:rPr>
              <a:t>)</a:t>
            </a:r>
            <a:endParaRPr lang="ru-RU" altLang="ru-RU" b="1" dirty="0"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3" y="1030832"/>
            <a:ext cx="11751703" cy="5376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4270807" y="6235991"/>
            <a:ext cx="3648233" cy="343670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Рисунок – Граф </a:t>
            </a:r>
            <a:r>
              <a:rPr lang="en-GB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C4</a:t>
            </a:r>
            <a:r>
              <a:rPr lang="ru-RU" altLang="ru-RU" sz="1400" b="1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 контейнер</a:t>
            </a:r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2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 smtClean="0"/>
              <a:t>Программная реализация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048000" y="29673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/>
              <a:t>ВИДЕО</a:t>
            </a:r>
          </a:p>
        </p:txBody>
      </p:sp>
    </p:spTree>
    <p:extLst>
      <p:ext uri="{BB962C8B-B14F-4D97-AF65-F5344CB8AC3E}">
        <p14:creationId xmlns:p14="http://schemas.microsoft.com/office/powerpoint/2010/main" val="239506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41777"/>
            <a:ext cx="9608330" cy="664797"/>
          </a:xfrm>
        </p:spPr>
        <p:txBody>
          <a:bodyPr/>
          <a:lstStyle/>
          <a:p>
            <a:r>
              <a:rPr lang="ru-RU" altLang="ru-RU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Сгенерированные </a:t>
            </a:r>
            <a:r>
              <a:rPr lang="ru-RU" altLang="ru-RU" dirty="0">
                <a:solidFill>
                  <a:srgbClr val="005AAA"/>
                </a:solidFill>
                <a:cs typeface="Times New Roman" panose="02020603050405020304" pitchFamily="18" charset="0"/>
              </a:rPr>
              <a:t>данные с учетом шума и сложности технологического процесса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47383" y="2812867"/>
            <a:ext cx="6590166" cy="2407649"/>
          </a:xfrm>
        </p:spPr>
        <p:txBody>
          <a:bodyPr>
            <a:normAutofit lnSpcReduction="10000"/>
          </a:bodyPr>
          <a:lstStyle/>
          <a:p>
            <a:r>
              <a:rPr lang="ru-RU" altLang="ru-RU" b="1" dirty="0">
                <a:cs typeface="Times New Roman" panose="02020603050405020304" pitchFamily="18" charset="0"/>
              </a:rPr>
              <a:t>Результаты расчета по заявленным задачам</a:t>
            </a:r>
            <a:endParaRPr lang="en-US" altLang="ru-RU" b="1" dirty="0">
              <a:cs typeface="Times New Roman" panose="02020603050405020304" pitchFamily="18" charset="0"/>
            </a:endParaRPr>
          </a:p>
          <a:p>
            <a:r>
              <a:rPr lang="ru-RU" altLang="ru-RU" b="1" dirty="0">
                <a:cs typeface="Times New Roman" panose="02020603050405020304" pitchFamily="18" charset="0"/>
              </a:rPr>
              <a:t>Конструкция (если необходимо)</a:t>
            </a:r>
          </a:p>
          <a:p>
            <a:r>
              <a:rPr lang="ru-RU" altLang="ru-RU" b="1" dirty="0">
                <a:cs typeface="Times New Roman" panose="02020603050405020304" pitchFamily="18" charset="0"/>
              </a:rPr>
              <a:t>Принципиальные схемы</a:t>
            </a:r>
          </a:p>
          <a:p>
            <a:r>
              <a:rPr lang="ru-RU" altLang="ru-RU" b="1" dirty="0">
                <a:cs typeface="Times New Roman" panose="02020603050405020304" pitchFamily="18" charset="0"/>
              </a:rPr>
              <a:t>Графики </a:t>
            </a:r>
          </a:p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121650" y="4144283"/>
            <a:ext cx="5432612" cy="343670"/>
          </a:xfrm>
          <a:prstGeom prst="rect">
            <a:avLst/>
          </a:prstGeom>
        </p:spPr>
        <p:txBody>
          <a:bodyPr vert="horz" lIns="0" tIns="0" rIns="0" bIns="0" numCol="1" spcCol="72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 txBox="1">
            <a:spLocks/>
          </p:cNvSpPr>
          <p:nvPr/>
        </p:nvSpPr>
        <p:spPr>
          <a:xfrm>
            <a:off x="6229770" y="4489370"/>
            <a:ext cx="5432612" cy="343670"/>
          </a:xfrm>
          <a:prstGeom prst="rect">
            <a:avLst/>
          </a:prstGeom>
        </p:spPr>
        <p:txBody>
          <a:bodyPr vert="horz" lIns="0" tIns="0" rIns="0" bIns="0" numCol="1" spcCol="72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altLang="ru-RU" sz="1400" b="1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852114" y="1063896"/>
            <a:ext cx="10755312" cy="54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9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41778"/>
            <a:ext cx="9608330" cy="664797"/>
          </a:xfrm>
        </p:spPr>
        <p:txBody>
          <a:bodyPr/>
          <a:lstStyle/>
          <a:p>
            <a:r>
              <a:rPr lang="ru-RU" altLang="ru-RU" dirty="0" smtClean="0">
                <a:solidFill>
                  <a:srgbClr val="005AAA"/>
                </a:solidFill>
                <a:cs typeface="Times New Roman" panose="02020603050405020304" pitchFamily="18" charset="0"/>
              </a:rPr>
              <a:t>Графики </a:t>
            </a:r>
            <a:r>
              <a:rPr lang="ru-RU" altLang="ru-RU" dirty="0"/>
              <a:t>д</a:t>
            </a:r>
            <a:r>
              <a:rPr lang="ru-RU" dirty="0"/>
              <a:t>инамики применения адаптации</a:t>
            </a:r>
            <a:br>
              <a:rPr lang="ru-RU" dirty="0"/>
            </a:br>
            <a:endParaRPr lang="ru-RU" altLang="ru-RU" dirty="0">
              <a:solidFill>
                <a:srgbClr val="005AAA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47383" y="2812867"/>
            <a:ext cx="6590166" cy="2407649"/>
          </a:xfrm>
        </p:spPr>
        <p:txBody>
          <a:bodyPr>
            <a:normAutofit lnSpcReduction="10000"/>
          </a:bodyPr>
          <a:lstStyle/>
          <a:p>
            <a:r>
              <a:rPr lang="ru-RU" altLang="ru-RU" b="1" dirty="0">
                <a:cs typeface="Times New Roman" panose="02020603050405020304" pitchFamily="18" charset="0"/>
              </a:rPr>
              <a:t>Результаты расчета по заявленным задачам</a:t>
            </a:r>
            <a:endParaRPr lang="en-US" altLang="ru-RU" b="1" dirty="0">
              <a:cs typeface="Times New Roman" panose="02020603050405020304" pitchFamily="18" charset="0"/>
            </a:endParaRPr>
          </a:p>
          <a:p>
            <a:r>
              <a:rPr lang="ru-RU" altLang="ru-RU" b="1" dirty="0">
                <a:cs typeface="Times New Roman" panose="02020603050405020304" pitchFamily="18" charset="0"/>
              </a:rPr>
              <a:t>Конструкция (если необходимо)</a:t>
            </a:r>
          </a:p>
          <a:p>
            <a:r>
              <a:rPr lang="ru-RU" altLang="ru-RU" b="1" dirty="0">
                <a:cs typeface="Times New Roman" panose="02020603050405020304" pitchFamily="18" charset="0"/>
              </a:rPr>
              <a:t>Принципиальные схемы</a:t>
            </a:r>
          </a:p>
          <a:p>
            <a:r>
              <a:rPr lang="ru-RU" altLang="ru-RU" b="1" dirty="0">
                <a:cs typeface="Times New Roman" panose="02020603050405020304" pitchFamily="18" charset="0"/>
              </a:rPr>
              <a:t>Графики </a:t>
            </a:r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011350"/>
            <a:ext cx="10725150" cy="555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442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altLang="ru-RU" dirty="0" smtClean="0">
                <a:cs typeface="Times New Roman" panose="02020603050405020304" pitchFamily="18" charset="0"/>
              </a:rPr>
              <a:t>Влияние сложности задачи на предсказание модели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15C0FB3C-5D33-4D8A-B730-B71C20DA44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47383" y="2812867"/>
            <a:ext cx="6590166" cy="2407649"/>
          </a:xfrm>
        </p:spPr>
        <p:txBody>
          <a:bodyPr>
            <a:normAutofit lnSpcReduction="10000"/>
          </a:bodyPr>
          <a:lstStyle/>
          <a:p>
            <a:r>
              <a:rPr lang="ru-RU" altLang="ru-RU" b="1" dirty="0">
                <a:cs typeface="Times New Roman" panose="02020603050405020304" pitchFamily="18" charset="0"/>
              </a:rPr>
              <a:t>Результаты расчета по заявленным задачам</a:t>
            </a:r>
            <a:endParaRPr lang="en-US" altLang="ru-RU" b="1" dirty="0">
              <a:cs typeface="Times New Roman" panose="02020603050405020304" pitchFamily="18" charset="0"/>
            </a:endParaRPr>
          </a:p>
          <a:p>
            <a:r>
              <a:rPr lang="ru-RU" altLang="ru-RU" b="1" dirty="0">
                <a:cs typeface="Times New Roman" panose="02020603050405020304" pitchFamily="18" charset="0"/>
              </a:rPr>
              <a:t>Конструкция (если необходимо)</a:t>
            </a:r>
          </a:p>
          <a:p>
            <a:r>
              <a:rPr lang="ru-RU" altLang="ru-RU" b="1" dirty="0">
                <a:cs typeface="Times New Roman" panose="02020603050405020304" pitchFamily="18" charset="0"/>
              </a:rPr>
              <a:t>Принципиальные схемы</a:t>
            </a:r>
          </a:p>
          <a:p>
            <a:r>
              <a:rPr lang="ru-RU" altLang="ru-RU" b="1" dirty="0">
                <a:cs typeface="Times New Roman" panose="02020603050405020304" pitchFamily="18" charset="0"/>
              </a:rPr>
              <a:t>Графики </a:t>
            </a:r>
          </a:p>
          <a:p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246" y="1221262"/>
            <a:ext cx="7224271" cy="473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05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8A5EA4C-464E-4353-8A4B-029D7FFE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9D9350EB-53C9-4F3F-8EB4-3CC93C8C8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122581" cy="50403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altLang="ru-RU" sz="1600" b="1" dirty="0">
                <a:solidFill>
                  <a:srgbClr val="005AAA"/>
                </a:solidFill>
                <a:latin typeface="+mj-lt"/>
                <a:cs typeface="Times New Roman" panose="02020603050405020304" pitchFamily="18" charset="0"/>
              </a:rPr>
              <a:t>В выпускной квалификационной </a:t>
            </a:r>
            <a:r>
              <a:rPr lang="ru-RU" altLang="ru-RU" sz="1600" b="1" dirty="0" smtClean="0">
                <a:solidFill>
                  <a:srgbClr val="005AAA"/>
                </a:solidFill>
                <a:latin typeface="+mj-lt"/>
                <a:cs typeface="Times New Roman" panose="02020603050405020304" pitchFamily="18" charset="0"/>
              </a:rPr>
              <a:t>работе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ru-RU" sz="1600" dirty="0" smtClean="0">
                <a:solidFill>
                  <a:srgbClr val="005AAA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Проведен </a:t>
            </a:r>
            <a:r>
              <a:rPr lang="ru-RU" sz="1600" dirty="0">
                <a:solidFill>
                  <a:schemeClr val="tx1"/>
                </a:solidFill>
              </a:rPr>
              <a:t>анализ патентных источников позволяет обобщить системные недостатки, характерные для большинства существующих решений в области адаптации совместной работы человека и </a:t>
            </a:r>
            <a:r>
              <a:rPr lang="ru-RU" sz="1600" dirty="0" err="1">
                <a:solidFill>
                  <a:schemeClr val="tx1"/>
                </a:solidFill>
              </a:rPr>
              <a:t>коллаборативного</a:t>
            </a:r>
            <a:r>
              <a:rPr lang="ru-RU" sz="1600" dirty="0">
                <a:solidFill>
                  <a:schemeClr val="tx1"/>
                </a:solidFill>
              </a:rPr>
              <a:t> робота. 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ru-RU" sz="1600" dirty="0" smtClean="0">
                <a:solidFill>
                  <a:srgbClr val="005AAA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Сформирована </a:t>
            </a:r>
            <a:r>
              <a:rPr lang="ru-RU" sz="1600" dirty="0">
                <a:solidFill>
                  <a:schemeClr val="tx1"/>
                </a:solidFill>
              </a:rPr>
              <a:t>м</a:t>
            </a:r>
            <a:r>
              <a:rPr lang="ru-RU" sz="1600" dirty="0" smtClean="0">
                <a:solidFill>
                  <a:schemeClr val="tx1"/>
                </a:solidFill>
              </a:rPr>
              <a:t>атематическая модель психофизиологического состояния человека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ru-RU" sz="1600" dirty="0" smtClean="0">
                <a:solidFill>
                  <a:srgbClr val="005AAA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Разработан </a:t>
            </a:r>
            <a:r>
              <a:rPr lang="ru-RU" sz="1600" dirty="0">
                <a:solidFill>
                  <a:schemeClr val="tx1"/>
                </a:solidFill>
              </a:rPr>
              <a:t>п</a:t>
            </a:r>
            <a:r>
              <a:rPr lang="ru-RU" sz="1600" dirty="0" smtClean="0">
                <a:solidFill>
                  <a:schemeClr val="tx1"/>
                </a:solidFill>
              </a:rPr>
              <a:t>редиктивный </a:t>
            </a:r>
            <a:r>
              <a:rPr lang="ru-RU" sz="1600" dirty="0">
                <a:solidFill>
                  <a:schemeClr val="tx1"/>
                </a:solidFill>
              </a:rPr>
              <a:t>алгоритм на основе машинного обучения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ru-RU" sz="1600" dirty="0" smtClean="0">
                <a:solidFill>
                  <a:srgbClr val="005AAA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Разработана </a:t>
            </a:r>
            <a:r>
              <a:rPr lang="ru-RU" sz="1600" dirty="0">
                <a:solidFill>
                  <a:schemeClr val="tx1"/>
                </a:solidFill>
              </a:rPr>
              <a:t>программно-алгоритмическая платформа, объединяющая модели кинематики, прогнозирования состояния и адаптации интерфейса с поведением робота в единое целое</a:t>
            </a:r>
          </a:p>
          <a:p>
            <a:pPr algn="just">
              <a:lnSpc>
                <a:spcPct val="150000"/>
              </a:lnSpc>
            </a:pPr>
            <a:endParaRPr lang="ru-RU" sz="1600" b="1" dirty="0">
              <a:solidFill>
                <a:srgbClr val="005AA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946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BF9724D-A72E-49D5-A3BF-9DF792D8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Апробация результатов работы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550863" y="2096181"/>
            <a:ext cx="10755424" cy="2529607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solidFill>
                  <a:srgbClr val="005AAA"/>
                </a:solidFill>
              </a:rPr>
              <a:t>1. </a:t>
            </a:r>
            <a:r>
              <a:rPr lang="ru-RU" dirty="0" err="1" smtClean="0">
                <a:solidFill>
                  <a:schemeClr val="tx1"/>
                </a:solidFill>
              </a:rPr>
              <a:t>Программма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для ЭВМ: "Адаптивное перераспределение нагрузки между человеком-оператором и роботом-манипулятором" Регистрация: № 2026613104 (03.02.2026) Подразделение: каф. </a:t>
            </a:r>
            <a:r>
              <a:rPr lang="ru-RU" dirty="0" smtClean="0">
                <a:solidFill>
                  <a:schemeClr val="tx1"/>
                </a:solidFill>
              </a:rPr>
              <a:t>32</a:t>
            </a:r>
          </a:p>
          <a:p>
            <a:pPr lvl="0"/>
            <a:r>
              <a:rPr lang="ru-RU" dirty="0" smtClean="0">
                <a:solidFill>
                  <a:srgbClr val="005AAA"/>
                </a:solidFill>
              </a:rPr>
              <a:t>2</a:t>
            </a:r>
            <a:r>
              <a:rPr lang="ru-RU" dirty="0" smtClean="0">
                <a:solidFill>
                  <a:schemeClr val="tx1"/>
                </a:solidFill>
              </a:rPr>
              <a:t>. </a:t>
            </a:r>
            <a:r>
              <a:rPr lang="ru-RU" dirty="0" err="1">
                <a:solidFill>
                  <a:schemeClr val="tx1"/>
                </a:solidFill>
              </a:rPr>
              <a:t>Москальцов</a:t>
            </a:r>
            <a:r>
              <a:rPr lang="ru-RU" dirty="0">
                <a:solidFill>
                  <a:schemeClr val="tx1"/>
                </a:solidFill>
              </a:rPr>
              <a:t> М. А., </a:t>
            </a:r>
            <a:r>
              <a:rPr lang="ru-RU" dirty="0" err="1">
                <a:solidFill>
                  <a:schemeClr val="tx1"/>
                </a:solidFill>
              </a:rPr>
              <a:t>Сержантова</a:t>
            </a:r>
            <a:r>
              <a:rPr lang="ru-RU" dirty="0">
                <a:solidFill>
                  <a:schemeClr val="tx1"/>
                </a:solidFill>
              </a:rPr>
              <a:t> М. В. ИССЛЕДОВАНИЕ ВОЗМОЖНОСТИ РАСПРЕДЕЛЕНИЯ НАГРУЗКИ МЕЖДУ ЧЕЛОВЕКОМ-ОПЕРАТОРОМ И РОБОТОМ-МАНИПУЛЯТОРОМ В ВЫСОКОТЕХНОЛОГИЧНОМ ПРОИЗВОДСТВЕ //Журнал Современные наукоемкие технологии. – 2026. – №. 4. – С. 85-91.</a:t>
            </a:r>
          </a:p>
          <a:p>
            <a:r>
              <a:rPr lang="ru-RU" dirty="0" smtClean="0">
                <a:solidFill>
                  <a:srgbClr val="005AAA"/>
                </a:solidFill>
              </a:rPr>
              <a:t>3</a:t>
            </a:r>
            <a:r>
              <a:rPr lang="ru-RU" dirty="0" smtClean="0">
                <a:solidFill>
                  <a:srgbClr val="FFC000"/>
                </a:solidFill>
              </a:rPr>
              <a:t>. </a:t>
            </a:r>
            <a:r>
              <a:rPr lang="en-GB" dirty="0" smtClean="0">
                <a:solidFill>
                  <a:schemeClr val="tx1"/>
                </a:solidFill>
              </a:rPr>
              <a:t>A MATHEMATICAL MODEL FOR COLLABORATIVE ROBOT ADAPTATION TO THE OPERATOR’S FUNCTIONAL STATE IN HUMAN-ROBOT COLLABORATION Mikhail </a:t>
            </a:r>
            <a:r>
              <a:rPr lang="en-GB" dirty="0" err="1" smtClean="0">
                <a:solidFill>
                  <a:schemeClr val="tx1"/>
                </a:solidFill>
              </a:rPr>
              <a:t>Moskaltsov</a:t>
            </a:r>
            <a:r>
              <a:rPr lang="en-GB" dirty="0" smtClean="0">
                <a:solidFill>
                  <a:schemeClr val="tx1"/>
                </a:solidFill>
              </a:rPr>
              <a:t>, Maya </a:t>
            </a:r>
            <a:r>
              <a:rPr lang="en-GB" dirty="0" err="1" smtClean="0">
                <a:solidFill>
                  <a:schemeClr val="tx1"/>
                </a:solidFill>
              </a:rPr>
              <a:t>Serzhantova</a:t>
            </a:r>
            <a:r>
              <a:rPr lang="ru-RU" dirty="0" smtClean="0">
                <a:solidFill>
                  <a:schemeClr val="tx1"/>
                </a:solidFill>
              </a:rPr>
              <a:t>  Известия кафедры </a:t>
            </a:r>
            <a:r>
              <a:rPr lang="en-GB" dirty="0" smtClean="0">
                <a:solidFill>
                  <a:schemeClr val="tx1"/>
                </a:solidFill>
              </a:rPr>
              <a:t>UNESCO </a:t>
            </a:r>
            <a:r>
              <a:rPr lang="ru-RU" dirty="0" smtClean="0">
                <a:solidFill>
                  <a:schemeClr val="tx1"/>
                </a:solidFill>
              </a:rPr>
              <a:t>ГУАП по дистанционному инженерному образованию имени профессора А. А. </a:t>
            </a:r>
            <a:r>
              <a:rPr lang="ru-RU" dirty="0" err="1" smtClean="0">
                <a:solidFill>
                  <a:schemeClr val="tx1"/>
                </a:solidFill>
              </a:rPr>
              <a:t>Оводенко</a:t>
            </a:r>
            <a:r>
              <a:rPr lang="ru-RU" dirty="0" smtClean="0">
                <a:solidFill>
                  <a:schemeClr val="tx1"/>
                </a:solidFill>
              </a:rPr>
              <a:t> = </a:t>
            </a:r>
            <a:r>
              <a:rPr lang="en-GB" dirty="0" smtClean="0">
                <a:solidFill>
                  <a:schemeClr val="tx1"/>
                </a:solidFill>
              </a:rPr>
              <a:t>Bulletin of the UNESCO Chair on Distance Education in Engineering named after Prof. A. A. </a:t>
            </a:r>
            <a:r>
              <a:rPr lang="en-GB" dirty="0" err="1" smtClean="0">
                <a:solidFill>
                  <a:schemeClr val="tx1"/>
                </a:solidFill>
              </a:rPr>
              <a:t>Ovodenko</a:t>
            </a:r>
            <a:r>
              <a:rPr lang="en-GB" dirty="0" smtClean="0">
                <a:solidFill>
                  <a:schemeClr val="tx1"/>
                </a:solidFill>
              </a:rPr>
              <a:t>: Collection of the papers. Saint Petersburg, Issue 11. – </a:t>
            </a:r>
            <a:r>
              <a:rPr lang="en-GB" dirty="0" err="1" smtClean="0">
                <a:solidFill>
                  <a:schemeClr val="tx1"/>
                </a:solidFill>
              </a:rPr>
              <a:t>SPb</a:t>
            </a:r>
            <a:r>
              <a:rPr lang="en-GB" dirty="0" smtClean="0">
                <a:solidFill>
                  <a:schemeClr val="tx1"/>
                </a:solidFill>
              </a:rPr>
              <a:t>.: SUAI, 2026. – 292 p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96507" y="1275329"/>
            <a:ext cx="9743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altLang="ru-RU" sz="2000" b="1" dirty="0">
                <a:solidFill>
                  <a:srgbClr val="005AAA"/>
                </a:solidFill>
                <a:latin typeface="Roboto"/>
                <a:cs typeface="Times New Roman" panose="02020603050405020304" pitchFamily="18" charset="0"/>
              </a:rPr>
              <a:t>Список опубликованных статей, свидетельства на ЭВМ, патенты по теме ВКР</a:t>
            </a:r>
            <a:endParaRPr lang="ru-RU" sz="2000" b="1" dirty="0">
              <a:solidFill>
                <a:srgbClr val="005AAA"/>
              </a:solidFill>
              <a:latin typeface="Robot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8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="" xmlns:a16="http://schemas.microsoft.com/office/drawing/2014/main" id="{BA820D5D-5F4F-47FC-8779-8A5475088B05}"/>
              </a:ext>
            </a:extLst>
          </p:cNvPr>
          <p:cNvSpPr txBox="1">
            <a:spLocks/>
          </p:cNvSpPr>
          <p:nvPr/>
        </p:nvSpPr>
        <p:spPr>
          <a:xfrm>
            <a:off x="3640263" y="2766167"/>
            <a:ext cx="5900780" cy="9756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62238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95661E3-6789-4403-AFF2-8716D8AD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smtClean="0">
                <a:cs typeface="Times New Roman" panose="02020603050405020304" pitchFamily="18" charset="0"/>
              </a:rPr>
              <a:t>Кинематика робота </a:t>
            </a:r>
            <a:r>
              <a:rPr lang="en-GB" altLang="ru-RU" dirty="0" err="1" smtClean="0">
                <a:cs typeface="Times New Roman" panose="02020603050405020304" pitchFamily="18" charset="0"/>
              </a:rPr>
              <a:t>Kuka</a:t>
            </a:r>
            <a:r>
              <a:rPr lang="en-GB" altLang="ru-RU" dirty="0" smtClean="0">
                <a:cs typeface="Times New Roman" panose="02020603050405020304" pitchFamily="18" charset="0"/>
              </a:rPr>
              <a:t> </a:t>
            </a:r>
            <a:r>
              <a:rPr lang="en-GB" altLang="ru-RU" dirty="0" err="1" smtClean="0">
                <a:cs typeface="Times New Roman" panose="02020603050405020304" pitchFamily="18" charset="0"/>
              </a:rPr>
              <a:t>iiwa</a:t>
            </a:r>
            <a:r>
              <a:rPr lang="en-GB" altLang="ru-RU" dirty="0" smtClean="0">
                <a:cs typeface="Times New Roman" panose="02020603050405020304" pitchFamily="18" charset="0"/>
              </a:rPr>
              <a:t> 14 R820</a:t>
            </a:r>
            <a:endParaRPr lang="ru-RU" dirty="0"/>
          </a:p>
        </p:txBody>
      </p:sp>
      <p:pic>
        <p:nvPicPr>
          <p:cNvPr id="5" name="Рисунок 4" descr="Inverse Kinematic Solver Based on Bat Algorithm for Robotic Arm Path  Plann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46" y="1296185"/>
            <a:ext cx="1877604" cy="51831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17051"/>
              </p:ext>
            </p:extLst>
          </p:nvPr>
        </p:nvGraphicFramePr>
        <p:xfrm>
          <a:off x="2359026" y="2880633"/>
          <a:ext cx="5108578" cy="36270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1609"/>
                <a:gridCol w="1021609"/>
                <a:gridCol w="1021609"/>
                <a:gridCol w="1021609"/>
                <a:gridCol w="1022142"/>
              </a:tblGrid>
              <a:tr h="55800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i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θ</a:t>
                      </a:r>
                      <a:r>
                        <a:rPr lang="en-GB" sz="1200" baseline="-25000">
                          <a:effectLst/>
                        </a:rPr>
                        <a:t>i</a:t>
                      </a:r>
                      <a:r>
                        <a:rPr lang="ru-RU" sz="1200">
                          <a:effectLst/>
                        </a:rPr>
                        <a:t> (рад)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d</a:t>
                      </a:r>
                      <a:r>
                        <a:rPr lang="en-GB" sz="1200" baseline="-25000">
                          <a:effectLst/>
                        </a:rPr>
                        <a:t>i</a:t>
                      </a:r>
                      <a:r>
                        <a:rPr lang="ru-RU" sz="1200">
                          <a:effectLst/>
                        </a:rPr>
                        <a:t> (м)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a</a:t>
                      </a:r>
                      <a:r>
                        <a:rPr lang="en-GB" sz="1200" baseline="-25000">
                          <a:effectLst/>
                        </a:rPr>
                        <a:t>i </a:t>
                      </a:r>
                      <a:r>
                        <a:rPr lang="en-GB" sz="1200">
                          <a:effectLst/>
                        </a:rPr>
                        <a:t>(</a:t>
                      </a:r>
                      <a:r>
                        <a:rPr lang="ru-RU" sz="1200">
                          <a:effectLst/>
                        </a:rPr>
                        <a:t>м</a:t>
                      </a:r>
                      <a:r>
                        <a:rPr lang="en-GB" sz="1200">
                          <a:effectLst/>
                        </a:rPr>
                        <a:t>)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α</a:t>
                      </a:r>
                      <a:r>
                        <a:rPr lang="en-GB" sz="1200" baseline="-25000">
                          <a:effectLst/>
                        </a:rPr>
                        <a:t>i</a:t>
                      </a:r>
                      <a:r>
                        <a:rPr lang="ru-RU" sz="1200">
                          <a:effectLst/>
                        </a:rPr>
                        <a:t> (рад)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5800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θ</a:t>
                      </a:r>
                      <a:r>
                        <a:rPr lang="ru-RU" sz="1200" baseline="-25000" dirty="0">
                          <a:effectLst/>
                        </a:rPr>
                        <a:t>1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0.360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π</a:t>
                      </a:r>
                      <a:r>
                        <a:rPr lang="en-GB" sz="1200">
                          <a:effectLst/>
                        </a:rPr>
                        <a:t>/2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7900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θ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r>
                        <a:rPr lang="ru-RU" sz="1200">
                          <a:effectLst/>
                        </a:rPr>
                        <a:t>π</a:t>
                      </a:r>
                      <a:r>
                        <a:rPr lang="en-GB" sz="1200">
                          <a:effectLst/>
                        </a:rPr>
                        <a:t>/2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5800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θ</a:t>
                      </a:r>
                      <a:r>
                        <a:rPr lang="ru-RU" sz="1200" baseline="-25000">
                          <a:effectLst/>
                        </a:rPr>
                        <a:t>3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0.420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r>
                        <a:rPr lang="ru-RU" sz="1200">
                          <a:effectLst/>
                        </a:rPr>
                        <a:t>π</a:t>
                      </a:r>
                      <a:r>
                        <a:rPr lang="en-GB" sz="1200">
                          <a:effectLst/>
                        </a:rPr>
                        <a:t>/2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7900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θ</a:t>
                      </a:r>
                      <a:r>
                        <a:rPr lang="ru-RU" sz="1200" baseline="-25000">
                          <a:effectLst/>
                        </a:rPr>
                        <a:t>4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π</a:t>
                      </a:r>
                      <a:r>
                        <a:rPr lang="en-GB" sz="1200">
                          <a:effectLst/>
                        </a:rPr>
                        <a:t>/2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5800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θ</a:t>
                      </a:r>
                      <a:r>
                        <a:rPr lang="ru-RU" sz="1200" baseline="-25000">
                          <a:effectLst/>
                        </a:rPr>
                        <a:t>5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0.400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π</a:t>
                      </a:r>
                      <a:r>
                        <a:rPr lang="en-GB" sz="1200">
                          <a:effectLst/>
                        </a:rPr>
                        <a:t>/2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7900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θ</a:t>
                      </a:r>
                      <a:r>
                        <a:rPr lang="ru-RU" sz="1200" baseline="-25000">
                          <a:effectLst/>
                        </a:rPr>
                        <a:t>6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r>
                        <a:rPr lang="ru-RU" sz="1200">
                          <a:effectLst/>
                        </a:rPr>
                        <a:t>π</a:t>
                      </a:r>
                      <a:r>
                        <a:rPr lang="en-GB" sz="1200">
                          <a:effectLst/>
                        </a:rPr>
                        <a:t>/2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5800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θ</a:t>
                      </a:r>
                      <a:r>
                        <a:rPr lang="ru-RU" sz="1200" baseline="-25000">
                          <a:effectLst/>
                        </a:rPr>
                        <a:t>7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0.126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0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555" y="1532154"/>
            <a:ext cx="4465365" cy="4852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311" y="1377828"/>
            <a:ext cx="4840288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66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1337</TotalTime>
  <Words>1072</Words>
  <Application>Microsoft Office PowerPoint</Application>
  <PresentationFormat>Произвольный</PresentationFormat>
  <Paragraphs>146</Paragraphs>
  <Slides>17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17</vt:i4>
      </vt:variant>
    </vt:vector>
  </HeadingPairs>
  <TitlesOfParts>
    <vt:vector size="26" baseType="lpstr">
      <vt:lpstr>Arial</vt:lpstr>
      <vt:lpstr>Roboto</vt:lpstr>
      <vt:lpstr>Roboto Medium</vt:lpstr>
      <vt:lpstr>Times New Roman</vt:lpstr>
      <vt:lpstr>Wingdings</vt:lpstr>
      <vt:lpstr>Calibri</vt:lpstr>
      <vt:lpstr>Титульная страница</vt:lpstr>
      <vt:lpstr>Текстовые блоки</vt:lpstr>
      <vt:lpstr>Дополнительные блоки</vt:lpstr>
      <vt:lpstr>Презентация PowerPoint</vt:lpstr>
      <vt:lpstr>Цель и задачи ВКР</vt:lpstr>
      <vt:lpstr>Актуальность темы</vt:lpstr>
      <vt:lpstr>Сборочно-комплектующий модуль</vt:lpstr>
      <vt:lpstr>Анализ патентных решений</vt:lpstr>
      <vt:lpstr>Математическая модель психофизиологического состояния человека-оператора</vt:lpstr>
      <vt:lpstr>Предиктивный алгоритм на основе машинного обучения</vt:lpstr>
      <vt:lpstr>Структура интеллектуальной системы с учетом зон безопасности и процессом восприятия информации</vt:lpstr>
      <vt:lpstr>Структура интеллектуальной системы</vt:lpstr>
      <vt:lpstr>Программная реализация</vt:lpstr>
      <vt:lpstr>Сгенерированные данные с учетом шума и сложности технологического процесса </vt:lpstr>
      <vt:lpstr>Графики динамики применения адаптации </vt:lpstr>
      <vt:lpstr>Влияние сложности задачи на предсказание модели</vt:lpstr>
      <vt:lpstr>Заключение</vt:lpstr>
      <vt:lpstr>Апробация результатов работы</vt:lpstr>
      <vt:lpstr>Презентация PowerPoint</vt:lpstr>
      <vt:lpstr>Кинематика робота Kuka iiwa 14 R820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creator>Michael_Mos</dc:creator>
  <cp:lastModifiedBy>Michael_Mos</cp:lastModifiedBy>
  <cp:revision>93</cp:revision>
  <dcterms:created xsi:type="dcterms:W3CDTF">2023-06-16T08:15:39Z</dcterms:created>
  <dcterms:modified xsi:type="dcterms:W3CDTF">2026-06-15T22:08:57Z</dcterms:modified>
</cp:coreProperties>
</file>